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405800"/>
            <a:ext cx="9143640" cy="210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0B2549-E9A4-447F-829D-4AC0088600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edit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8080" y="272736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96C648-C4E6-4678-ADE1-FBE557B5AD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edit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 </a:t>
            </a: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272736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5F0FF5-44AC-45F7-9D6C-5D228180D4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FE7384-B554-44D8-AF88-9820A7B95A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2727360"/>
            <a:ext cx="518112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172200" y="2727360"/>
            <a:ext cx="518112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0F9FBE-31DC-422D-AE4C-E9CD38B763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814694-B6B5-41FA-B8D8-EB2EBE48DE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B6715D-06CB-40B2-AC9A-1C81538731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9880" y="1363680"/>
            <a:ext cx="3931920" cy="105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2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183280" y="1363680"/>
            <a:ext cx="6171840" cy="4496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839880" y="2421720"/>
            <a:ext cx="3931920" cy="344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E5B9F4-3A45-4BD8-BAC3-51C175B9C0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"/>
          <p:cNvSpPr/>
          <p:nvPr/>
        </p:nvSpPr>
        <p:spPr>
          <a:xfrm>
            <a:off x="0" y="-6480"/>
            <a:ext cx="12191760" cy="1344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7"/>
          <p:cNvSpPr/>
          <p:nvPr/>
        </p:nvSpPr>
        <p:spPr>
          <a:xfrm>
            <a:off x="2196360" y="204120"/>
            <a:ext cx="83768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5400" b="0" u="none" strike="noStrike">
                <a:solidFill>
                  <a:schemeClr val="lt1"/>
                </a:solidFill>
                <a:effectLst/>
                <a:uFillTx/>
                <a:latin typeface="Bodoni MT"/>
              </a:rPr>
              <a:t>University of Dar es Salaam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Picture 10"/>
          <p:cNvPicPr/>
          <p:nvPr/>
        </p:nvPicPr>
        <p:blipFill>
          <a:blip r:embed="rId2"/>
          <a:srcRect l="4296" t="5704" r="15070" b="10047"/>
          <a:stretch/>
        </p:blipFill>
        <p:spPr>
          <a:xfrm>
            <a:off x="838080" y="19800"/>
            <a:ext cx="1236600" cy="129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8080" y="272736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905938-7889-4420-8455-136CE05CF5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092960" y="1405800"/>
            <a:ext cx="10005840" cy="129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algn="ctr" defTabSz="914400">
              <a:lnSpc>
                <a:spcPct val="115000"/>
              </a:lnSpc>
              <a:spcBef>
                <a:spcPts val="567"/>
              </a:spcBef>
              <a:spcAft>
                <a:spcPts val="567"/>
              </a:spcAft>
              <a:buNone/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FINAL YEAR PROJECT PROGRESS PRESENTATION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Times New Roman"/>
              <a:ea typeface="Noto Sans CJK SC"/>
            </a:endParaRPr>
          </a:p>
        </p:txBody>
      </p:sp>
      <p:graphicFrame>
        <p:nvGraphicFramePr>
          <p:cNvPr id="72" name="Table 1"/>
          <p:cNvGraphicFramePr/>
          <p:nvPr/>
        </p:nvGraphicFramePr>
        <p:xfrm>
          <a:off x="367920" y="2815560"/>
          <a:ext cx="11519640" cy="3356280"/>
        </p:xfrm>
        <a:graphic>
          <a:graphicData uri="http://schemas.openxmlformats.org/drawingml/2006/table">
            <a:tbl>
              <a:tblPr/>
              <a:tblGrid>
                <a:gridCol w="3325680"/>
                <a:gridCol w="8194320"/>
              </a:tblGrid>
              <a:tr h="127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CANDIDATE: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Musyani, Samuel Dan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 defTabSz="91440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lang="en-US" sz="2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Reg No. 2022 – 04 – 09050 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7966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SUPERVISORS: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Dr. Hashim Iddi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27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PROJECT TITLE: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50000"/>
                        </a:lnSpc>
                      </a:pPr>
                      <a:r>
                        <a:rPr lang="en-US" sz="2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</a:rPr>
                        <a:t>Design and Implementation of an Automated Card Issuance System</a:t>
                      </a:r>
                      <a:endParaRPr lang="en-GB" sz="2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Introduction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24760" y="285048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algn="just" defTabSz="914400"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The project aims to develop a prototype for an Automated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Card Issuance System to streamline the collection of pre-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printed ID Cards for registered students.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4BD5D7-DB46-4227-AA74-EE5622A382F9}" type="slidenum">
              <a:t>2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02AC3A29-555E-44A2-81BA-AAC2A459C9BB}" type="datetime1">
              <a:rPr lang="en-GB"/>
              <a:t>16/01/2026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Problem Statement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272736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50000"/>
              </a:lnSpc>
              <a:spcBef>
                <a:spcPts val="1417"/>
              </a:spcBef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The current ID Card Issuance process for registered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students at the University of Dar es Salaam faces long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waiting period, narrow working windows and staff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exhaustion due to large number of students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2B2D1D-79BC-4FD0-B6A0-B2E26B95AE77}" type="slidenum">
              <a:t>3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8B4AE2CB-D547-4407-BC5B-C8E1B3DFA947}" type="datetime1">
              <a:rPr lang="en-GB"/>
              <a:t>16/01/2026</a:t>
            </a:fld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93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5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Proposed Solution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60000" y="2340000"/>
            <a:ext cx="10993320" cy="51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An automated card issuance system for secure, on-demand card retrieval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620000" y="2880000"/>
            <a:ext cx="3960000" cy="144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Automated reliable dispensing: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algn="ctr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Sorts and distributes ID cards 24/7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  <p:sp>
        <p:nvSpPr>
          <p:cNvPr id="80" name=""/>
          <p:cNvSpPr/>
          <p:nvPr/>
        </p:nvSpPr>
        <p:spPr>
          <a:xfrm>
            <a:off x="6480000" y="2880000"/>
            <a:ext cx="3780000" cy="144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Secure Authentication: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SMS (OTP) for student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verification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620000" y="4680000"/>
            <a:ext cx="3960000" cy="162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Audit Logging: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Records all activities happening for debugging and tracking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480000" y="4680000"/>
            <a:ext cx="3780000" cy="162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Real-time integrated control: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Micro-controller to control actuators in real-time 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18B50A-99C1-4007-84F2-DA5FA2400107}" type="slidenum">
              <a:t>4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12C6F432-8D67-400C-B2A7-2EC500C8DD02}" type="datetime1">
              <a:rPr lang="en-GB"/>
              <a:t>16/01/2026</a:t>
            </a:fld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900000" y="1413360"/>
            <a:ext cx="10515240" cy="92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5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Objectives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1080000" y="2340000"/>
            <a:ext cx="10273320" cy="414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55000" lnSpcReduction="19999"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Main Objective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design and implement an Automated Card Issuance System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for students’ pre-printed ID Cards 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13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Specific Objectives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571680" indent="-57168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romanLcPeriod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implement a reliable actuator control system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571680" indent="-57168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romanLcPeriod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implement authentication application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571680" indent="-57168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romanLcPeriod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implement activity logging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571680" indent="-57168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romanLcPeriod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To enforce security policy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571680" indent="-571680" defTabSz="914400">
              <a:lnSpc>
                <a:spcPct val="150000"/>
              </a:lnSpc>
              <a:spcBef>
                <a:spcPts val="1001"/>
              </a:spcBef>
              <a:buClr>
                <a:srgbClr val="000000"/>
              </a:buClr>
              <a:buFont typeface="Calibri Light"/>
              <a:buAutoNum type="romanLcPeriod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System performance evaluation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925422-208A-461F-A976-40DF8120F6FB}" type="slidenum">
              <a:t>5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DD15735A-33F1-42DB-B592-92CC39924442}" type="datetime1">
              <a:rPr lang="en-GB"/>
              <a:t>16/01/2026</a:t>
            </a:fld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Related Projects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2520000"/>
            <a:ext cx="10515240" cy="365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algn="just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Automatic and Smart Vending Systems: self-service, cashless payment (IoT), and object detection (image processing).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432000" indent="-324000" algn="just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ATM with authentication and security: multi-factor approaches, like OTPs and biometrics to enhance security in automated environments.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B8C573-DE22-449C-A4D1-D326886FD730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244C52D-71C9-4745-8FA5-F037191C9FBE}" type="datetime1">
              <a:rPr lang="en-GB"/>
              <a:t>16/01/2026</a:t>
            </a:fld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24760" y="1440000"/>
            <a:ext cx="10515240" cy="114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Methodology – System architecture</a:t>
            </a:r>
            <a:endParaRPr lang="en-US" sz="4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69080" y="2367360"/>
            <a:ext cx="11160000" cy="87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The proposed system uses dual-controller architecture for robust 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operation.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620000" y="3240000"/>
            <a:ext cx="4320000" cy="270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5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High-level Controller: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50000"/>
              </a:lnSpc>
            </a:pP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Manages UI, network, SMS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OTP, database access, computer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vision, logging and commands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to real-time controller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6480000" y="3240000"/>
            <a:ext cx="4320000" cy="270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50000"/>
              </a:lnSpc>
            </a:pPr>
            <a:r>
              <a:rPr lang="en-GB" sz="22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Real-time Controller: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50000"/>
              </a:lnSpc>
            </a:pP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Directly controls motors,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safety monitoring and status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reporting to high-level </a:t>
            </a:r>
            <a:r>
              <a:rPr lang="en-GB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controller.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AE425A6-46C4-4D62-8C37-239F1C110D47}" type="slidenum">
              <a:t>7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D523837D-B25A-46F1-BCC0-52734E28E169}" type="datetime1">
              <a:rPr lang="en-GB"/>
              <a:t>16/01/2026</a:t>
            </a:fld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11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Methodology - Workflow</a:t>
            </a:r>
            <a:endParaRPr lang="en-US" sz="4800" b="1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080000" y="2520000"/>
            <a:ext cx="2700000" cy="180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0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Preload Phase: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algn="just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Staff inserts cards, cards are </a:t>
            </a: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scanned and mapped to storage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  <p:sp>
        <p:nvSpPr>
          <p:cNvPr id="93" name=""/>
          <p:cNvSpPr/>
          <p:nvPr/>
        </p:nvSpPr>
        <p:spPr>
          <a:xfrm>
            <a:off x="4680000" y="3420000"/>
            <a:ext cx="2700000" cy="180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Notification </a:t>
            </a: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Phase: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algn="just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</a:pP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High-level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controller sends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SMS that cards are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ready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  <p:sp>
        <p:nvSpPr>
          <p:cNvPr id="94" name=""/>
          <p:cNvSpPr/>
          <p:nvPr/>
        </p:nvSpPr>
        <p:spPr>
          <a:xfrm>
            <a:off x="8460000" y="4320000"/>
            <a:ext cx="2700000" cy="1800000"/>
          </a:xfrm>
          <a:prstGeom prst="flowChartAlternateProcess">
            <a:avLst/>
          </a:prstGeom>
          <a:gradFill rotWithShape="0">
            <a:gsLst>
              <a:gs pos="0">
                <a:srgbClr val="eeeeee"/>
              </a:gs>
              <a:gs pos="100000">
                <a:srgbClr val="ffffff"/>
              </a:gs>
            </a:gsLst>
            <a:lin ang="3600000"/>
          </a:gradFill>
          <a:ln w="0">
            <a:solidFill>
              <a:srgbClr val="3465a4"/>
            </a:solidFill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 algn="ctr"/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Retrieval </a:t>
            </a:r>
            <a:r>
              <a:rPr lang="en-GB" sz="21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Phase: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  <a:p>
            <a:pPr algn="just"/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Student returns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card, enters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OTP, gets card </a:t>
            </a:r>
            <a:r>
              <a:rPr lang="en-GB" sz="21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and logs.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95" name=""/>
          <p:cNvCxnSpPr>
            <a:stCxn id="92" idx="3"/>
            <a:endCxn id="93" idx="1"/>
          </p:cNvCxnSpPr>
          <p:nvPr/>
        </p:nvCxnSpPr>
        <p:spPr>
          <a:xfrm>
            <a:off x="3780000" y="3420000"/>
            <a:ext cx="900360" cy="900360"/>
          </a:xfrm>
          <a:prstGeom prst="bentConnector3">
            <a:avLst>
              <a:gd name="adj1" fmla="val 50000"/>
            </a:avLst>
          </a:prstGeom>
          <a:ln w="0">
            <a:solidFill>
              <a:srgbClr val="3465a4"/>
            </a:solidFill>
            <a:tailEnd len="med" type="triangle" w="med"/>
          </a:ln>
        </p:spPr>
      </p:cxnSp>
      <p:cxnSp>
        <p:nvCxnSpPr>
          <p:cNvPr id="96" name=""/>
          <p:cNvCxnSpPr>
            <a:stCxn id="93" idx="3"/>
            <a:endCxn id="94" idx="1"/>
          </p:cNvCxnSpPr>
          <p:nvPr/>
        </p:nvCxnSpPr>
        <p:spPr>
          <a:xfrm>
            <a:off x="7380000" y="4320000"/>
            <a:ext cx="1080360" cy="900360"/>
          </a:xfrm>
          <a:prstGeom prst="bentConnector3">
            <a:avLst>
              <a:gd name="adj1" fmla="val 50000"/>
            </a:avLst>
          </a:prstGeom>
          <a:ln w="0">
            <a:solidFill>
              <a:srgbClr val="3465a4"/>
            </a:solidFill>
            <a:tailEnd len="med" type="triangle" w="med"/>
          </a:ln>
        </p:spPr>
      </p:cxn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5115F4-2C1B-4402-AE52-86032B49BDA6}" type="slidenum">
              <a:t>8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161772B-98B7-47E4-82D7-17EBDDC9618A}" type="datetime1">
              <a:rPr lang="en-GB"/>
              <a:t>16/01/2026</a:t>
            </a:fld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1401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anchorCtr="1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5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Conclusion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8080" y="2727360"/>
            <a:ext cx="10515240" cy="34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algn="just" defTabSz="914400">
              <a:lnSpc>
                <a:spcPct val="150000"/>
              </a:lnSpc>
              <a:spcBef>
                <a:spcPts val="1001"/>
              </a:spcBef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The proposed project shows that an Automated ID Card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Issuance System can streamline card distribution and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collection for University students.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28600" indent="0" algn="just" defTabSz="914400">
              <a:lnSpc>
                <a:spcPct val="15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AA3048-7E70-4807-9569-BB3FE3D48BF9}" type="slidenum">
              <a:t>9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3BE337D6-7839-4B24-8418-579AA521796D}" type="datetime1">
              <a:rPr lang="en-GB"/>
              <a:t>16/01/2026</a:t>
            </a:fld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2160000" y="2766240"/>
            <a:ext cx="7920000" cy="191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96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THANK YOU!</a:t>
            </a:r>
            <a:endParaRPr lang="en-US" sz="9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4C8542-42D2-489A-ABE6-B49E090C7752}" type="slidenum">
              <a:t>10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B0B158F2-DE6F-426A-B85F-DFF276754B50}" type="datetime1">
              <a:rPr lang="en-GB"/>
              <a:t>16/01/2026</a:t>
            </a:fld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Application>LibreOffice/25.8.4.2$Linux_X86_64 LibreOffice_project/0366609b1de41a39e1896ae41e33c673f2a73802</Application>
  <AppVersion>15.0000</AppVersion>
  <Words>98</Words>
  <Paragraphs>46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2019-09-23T18:48:47Z</dcterms:created>
  <dc:creator>Baraka Maiseli</dc:creator>
  <dc:description/>
  <dc:language>en-GB</dc:language>
  <cp:lastModifiedBy/>
  <dcterms:modified xsi:type="dcterms:W3CDTF">2026-01-16T00:29:07Z</dcterms:modified>
  <cp:revision>22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10</vt:i4>
  </property>
</Properties>
</file>