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5400000"/>
            <a:ext cx="10079280" cy="26928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0" y="0"/>
            <a:ext cx="10079280" cy="121428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9315000" y="5175000"/>
            <a:ext cx="449280" cy="449280"/>
          </a:xfrm>
          <a:prstGeom prst="ellipse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</a:t>
            </a: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60000" y="1485000"/>
            <a:ext cx="9359280" cy="37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Second Outline Level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Aft>
                <a:spcPts val="635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Aft>
                <a:spcPts val="425"/>
              </a:spcAft>
              <a:buClr>
                <a:srgbClr val="2c3e50"/>
              </a:buClr>
              <a:buSzPct val="75000"/>
              <a:buFont typeface="Symbol" charset="2"/>
              <a:buChar char="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Aft>
                <a:spcPts val="213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1500" b="0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1"/>
          </p:nvPr>
        </p:nvSpPr>
        <p:spPr>
          <a:xfrm>
            <a:off x="360000" y="5400000"/>
            <a:ext cx="287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2"/>
          </p:nvPr>
        </p:nvSpPr>
        <p:spPr>
          <a:xfrm>
            <a:off x="3420000" y="5400000"/>
            <a:ext cx="323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9180000" y="5262480"/>
            <a:ext cx="71928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6866B699-A1B6-4387-BD94-7250DDE24055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0079280" cy="566928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0" y="0"/>
            <a:ext cx="10079280" cy="3779280"/>
          </a:xfrm>
          <a:prstGeom prst="rect">
            <a:avLst/>
          </a:prstGeom>
          <a:solidFill>
            <a:srgbClr val="1abc9c"/>
          </a:solidFill>
          <a:ln w="0">
            <a:solidFill>
              <a:srgbClr val="1abc9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60000" y="283500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60000" y="3915000"/>
            <a:ext cx="9359280" cy="148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0">
              <a:lnSpc>
                <a:spcPct val="100000"/>
              </a:lnSpc>
              <a:spcAft>
                <a:spcPts val="65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indent="0">
              <a:lnSpc>
                <a:spcPct val="100000"/>
              </a:lnSpc>
              <a:spcAft>
                <a:spcPts val="63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indent="0">
              <a:lnSpc>
                <a:spcPct val="100000"/>
              </a:lnSpc>
              <a:spcAft>
                <a:spcPts val="42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4"/>
          </p:nvPr>
        </p:nvSpPr>
        <p:spPr>
          <a:xfrm>
            <a:off x="360000" y="5400000"/>
            <a:ext cx="287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5"/>
          </p:nvPr>
        </p:nvSpPr>
        <p:spPr>
          <a:xfrm>
            <a:off x="3420000" y="5400000"/>
            <a:ext cx="323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6"/>
          </p:nvPr>
        </p:nvSpPr>
        <p:spPr>
          <a:xfrm>
            <a:off x="9180000" y="5262480"/>
            <a:ext cx="71928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FA592C77-C6C9-4973-972A-F8F389AA96D6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10079280" cy="5669280"/>
          </a:xfrm>
          <a:prstGeom prst="rect">
            <a:avLst/>
          </a:prstGeom>
          <a:solidFill>
            <a:srgbClr val="2c3e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ffffff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2520000" y="1350000"/>
            <a:ext cx="5039280" cy="1889280"/>
          </a:xfrm>
          <a:prstGeom prst="wedgeRectCallout">
            <a:avLst>
              <a:gd name="adj1" fmla="val -34032"/>
              <a:gd name="adj2" fmla="val 132916"/>
            </a:avLst>
          </a:prstGeom>
          <a:solidFill>
            <a:srgbClr val="ffffff"/>
          </a:solidFill>
          <a:ln w="720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120600" rIns="120600" tIns="75600" bIns="75600" anchor="ctr">
            <a:noAutofit/>
          </a:bodyPr>
          <a:p>
            <a:pPr>
              <a:lnSpc>
                <a:spcPct val="100000"/>
              </a:lnSpc>
            </a:pPr>
            <a:endParaRPr lang="en-GB" sz="1400" b="1" u="none" strike="noStrik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700000" y="1485000"/>
            <a:ext cx="4679280" cy="16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2700" b="1" u="none" strike="noStrike">
                <a:solidFill>
                  <a:srgbClr val="2c3e50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GB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420000" y="3240000"/>
            <a:ext cx="6299280" cy="16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0">
              <a:lnSpc>
                <a:spcPct val="100000"/>
              </a:lnSpc>
              <a:spcAft>
                <a:spcPts val="65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Aft>
                <a:spcPts val="850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Second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indent="0">
              <a:lnSpc>
                <a:spcPct val="100000"/>
              </a:lnSpc>
              <a:spcAft>
                <a:spcPts val="63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Third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indent="0">
              <a:lnSpc>
                <a:spcPct val="100000"/>
              </a:lnSpc>
              <a:spcAft>
                <a:spcPts val="425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Fourth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Fifth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Sixth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indent="0">
              <a:lnSpc>
                <a:spcPct val="100000"/>
              </a:lnSpc>
              <a:spcAft>
                <a:spcPts val="213"/>
              </a:spcAft>
              <a:buNone/>
              <a:tabLst>
                <a:tab algn="l" pos="0"/>
              </a:tabLst>
            </a:pPr>
            <a:r>
              <a:rPr lang="en-GB" sz="1500" b="0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Seventh Outline Level</a:t>
            </a:r>
            <a:endParaRPr lang="en-GB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7"/>
          </p:nvPr>
        </p:nvSpPr>
        <p:spPr>
          <a:xfrm>
            <a:off x="360000" y="5400000"/>
            <a:ext cx="287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&lt;date/time&gt;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8"/>
          </p:nvPr>
        </p:nvSpPr>
        <p:spPr>
          <a:xfrm>
            <a:off x="3420000" y="5400000"/>
            <a:ext cx="3239280" cy="31140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&lt;footer&gt;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9"/>
          </p:nvPr>
        </p:nvSpPr>
        <p:spPr>
          <a:xfrm>
            <a:off x="9180000" y="5262480"/>
            <a:ext cx="719280" cy="27468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C094B33D-7273-49A9-A076-B67BAD0E855F}" type="slidenum"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Noto Sans"/>
              </a:rPr>
              <a:t>&lt;number&gt;</a:t>
            </a:fld>
            <a:endParaRPr lang="en-GB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FINAL YEAR PROJECT PRESENTATION</a:t>
            </a:r>
            <a:endParaRPr lang="en-GB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280" cy="37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PROGRESS STAGE: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End of Semester 1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CANDIDATE: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Musyani, Samuel Dan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SUPERVISOR: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Dr. Hashim Iddi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800" b="1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PROJECT TITLE: </a:t>
            </a: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Design and Implementation of an Automated ID Card Issuance System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196882F-397D-46D7-A711-D77016E8E9C9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INTRODUCTION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280" cy="37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 algn="just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The project aims to ease ID card issuance process for registered students by developing a prototype of an automated system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Registered students will be able to return their expired cards, and retrieve their valid ID cards  for that particular academic year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EA3018-34E5-484C-8FCF-75ED8E136A7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PROBLEM STATEMENT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360000" y="4140000"/>
            <a:ext cx="9359280" cy="11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With high student volumes, narrow administrative working window leads to long queues and delayed distribution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900000" y="1260000"/>
            <a:ext cx="7919280" cy="305568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71673D-1812-43D2-B7AE-6032556D727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PROPOSED SOLUTIONS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0" y="1260000"/>
            <a:ext cx="9359280" cy="5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indent="0" algn="ctr">
              <a:lnSpc>
                <a:spcPct val="10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8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An automated card issuance system, with: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40000" y="1800000"/>
            <a:ext cx="3779280" cy="143928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r="2700000" dist="101823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Automated reliable dispensing: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Sorts and distributes cards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24/7 with real-time control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540000" y="3420000"/>
            <a:ext cx="3779280" cy="161928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r="2700000" dist="101823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 anchorCtr="1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Computer Vision: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Automated card details verification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for sorting and distribution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5040000" y="1800000"/>
            <a:ext cx="3779280" cy="143928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r="2700000" dist="101823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000" b="1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Secure Authentication: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OTP and PIN for student 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0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verification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5040000" y="3420000"/>
            <a:ext cx="3779280" cy="1619280"/>
          </a:xfrm>
          <a:prstGeom prst="flowChartAlternateProcess">
            <a:avLst/>
          </a:prstGeom>
          <a:solidFill>
            <a:srgbClr val="ffffff"/>
          </a:solidFill>
          <a:ln w="10800">
            <a:solidFill>
              <a:srgbClr val="808080"/>
            </a:solidFill>
            <a:round/>
          </a:ln>
          <a:effectLst>
            <a:outerShdw dir="2700000" dist="101823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50000"/>
              </a:lnSpc>
            </a:pPr>
            <a:r>
              <a:rPr lang="en-GB" sz="2100" b="1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Audit logging: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Record all activities happening 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GB" sz="21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for debugging and tracking</a:t>
            </a:r>
            <a:endParaRPr lang="en-GB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A3899E-1E9F-4287-8C6B-8D0870F8CEF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OBJECTIVES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360000" y="1260000"/>
            <a:ext cx="9359280" cy="37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Main Objective: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design and implement an Automated ID card Issuance System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50000"/>
              </a:lnSpc>
              <a:spcAft>
                <a:spcPts val="1057"/>
              </a:spcAft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Specific Objectives: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implement robust authentication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implement an actuator control system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To enforce security policy and audit logging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803275-D688-4630-9218-A0E815BB47D9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SYSTEM ARCHITECTURE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360000" y="4140000"/>
            <a:ext cx="9359280" cy="112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High – level controller manages authentication, UI, database and computer vision while low – level controller manages real – time controls and sensor integration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"/>
          <p:cNvPicPr/>
          <p:nvPr/>
        </p:nvPicPr>
        <p:blipFill>
          <a:blip r:embed="rId1"/>
          <a:stretch/>
        </p:blipFill>
        <p:spPr>
          <a:xfrm>
            <a:off x="180000" y="1257480"/>
            <a:ext cx="9539280" cy="288180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2A437C-66C2-4224-B050-16E5EDC06CCC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FUNCTIONAL WORKFLOW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1082880" y="1080000"/>
            <a:ext cx="8276400" cy="434952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EA6F57E-651F-4C58-AD7F-1F68CB673F98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FUNCTIONAL WORKFLOW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"/>
          <p:cNvPicPr/>
          <p:nvPr/>
        </p:nvPicPr>
        <p:blipFill>
          <a:blip r:embed="rId1"/>
          <a:stretch/>
        </p:blipFill>
        <p:spPr>
          <a:xfrm>
            <a:off x="180000" y="1260000"/>
            <a:ext cx="3760200" cy="413928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46" name=""/>
          <p:cNvPicPr/>
          <p:nvPr/>
        </p:nvPicPr>
        <p:blipFill>
          <a:blip r:embed="rId2"/>
          <a:stretch/>
        </p:blipFill>
        <p:spPr>
          <a:xfrm>
            <a:off x="4320000" y="1260000"/>
            <a:ext cx="5651640" cy="422460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85E79B-5A4A-4375-B61D-8D2CA4CEA805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COMPUTER VISION PIPELINE</a:t>
            </a:r>
            <a:endParaRPr lang="en-GB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"/>
          <p:cNvPicPr/>
          <p:nvPr/>
        </p:nvPicPr>
        <p:blipFill>
          <a:blip r:embed="rId1"/>
          <a:stretch/>
        </p:blipFill>
        <p:spPr>
          <a:xfrm>
            <a:off x="0" y="1186920"/>
            <a:ext cx="10078920" cy="133236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49" name=""/>
          <p:cNvPicPr/>
          <p:nvPr/>
        </p:nvPicPr>
        <p:blipFill>
          <a:blip r:embed="rId2"/>
          <a:srcRect l="5719" t="0" r="7707" b="0"/>
          <a:stretch/>
        </p:blipFill>
        <p:spPr>
          <a:xfrm>
            <a:off x="156240" y="2776680"/>
            <a:ext cx="2723040" cy="190260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50" name=""/>
          <p:cNvPicPr/>
          <p:nvPr/>
        </p:nvPicPr>
        <p:blipFill>
          <a:blip r:embed="rId3"/>
          <a:stretch/>
        </p:blipFill>
        <p:spPr>
          <a:xfrm>
            <a:off x="3240000" y="2774520"/>
            <a:ext cx="3020400" cy="1904760"/>
          </a:xfrm>
          <a:prstGeom prst="rect">
            <a:avLst/>
          </a:prstGeom>
          <a:noFill/>
          <a:ln w="10800">
            <a:noFill/>
          </a:ln>
        </p:spPr>
      </p:pic>
      <p:pic>
        <p:nvPicPr>
          <p:cNvPr id="51" name=""/>
          <p:cNvPicPr/>
          <p:nvPr/>
        </p:nvPicPr>
        <p:blipFill>
          <a:blip r:embed="rId4"/>
          <a:stretch/>
        </p:blipFill>
        <p:spPr>
          <a:xfrm>
            <a:off x="6621120" y="3240000"/>
            <a:ext cx="3278160" cy="110304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52" name=""/>
          <p:cNvSpPr/>
          <p:nvPr/>
        </p:nvSpPr>
        <p:spPr>
          <a:xfrm>
            <a:off x="2880000" y="3600000"/>
            <a:ext cx="359280" cy="17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33333"/>
          </a:solidFill>
          <a:ln w="1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GB" sz="1800" b="0" u="none" strike="noStrik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6261120" y="3600000"/>
            <a:ext cx="359280" cy="179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33333"/>
          </a:solidFill>
          <a:ln w="1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lang="en-GB" sz="1800" b="0" u="none" strike="noStrike">
              <a:solidFill>
                <a:srgbClr val="2c3e50"/>
              </a:solidFill>
              <a:effectLst/>
              <a:uFillTx/>
              <a:latin typeface="Noto Sans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AB31D03-028A-4FDB-B15A-8B44DEE464AD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280" cy="49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Power separation rail design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/>
          <p:cNvPicPr/>
          <p:nvPr/>
        </p:nvPicPr>
        <p:blipFill>
          <a:blip r:embed="rId1"/>
          <a:stretch/>
        </p:blipFill>
        <p:spPr>
          <a:xfrm>
            <a:off x="339480" y="1980000"/>
            <a:ext cx="5599800" cy="300456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57" name=""/>
          <p:cNvSpPr/>
          <p:nvPr/>
        </p:nvSpPr>
        <p:spPr>
          <a:xfrm>
            <a:off x="5760000" y="1980000"/>
            <a:ext cx="4139280" cy="21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Separation is done to prevent inrush current (motors) interfering from logic components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1BC9BA0-31D6-4509-AE7D-12CE6934C801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60000" y="1305000"/>
            <a:ext cx="9359280" cy="49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Reverse Polarity Protection Circuit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"/>
          <p:cNvPicPr/>
          <p:nvPr/>
        </p:nvPicPr>
        <p:blipFill>
          <a:blip r:embed="rId1"/>
          <a:srcRect l="0" t="418" r="3231" b="4173"/>
          <a:stretch/>
        </p:blipFill>
        <p:spPr>
          <a:xfrm>
            <a:off x="360360" y="1800360"/>
            <a:ext cx="5398920" cy="161892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61" name=""/>
          <p:cNvSpPr/>
          <p:nvPr/>
        </p:nvSpPr>
        <p:spPr>
          <a:xfrm>
            <a:off x="5760000" y="1800000"/>
            <a:ext cx="41392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Correct polarity connection allows connection to the output node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Wrong polarity connection does not allow connection to the output node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"/>
          <p:cNvPicPr/>
          <p:nvPr/>
        </p:nvPicPr>
        <p:blipFill>
          <a:blip r:embed="rId2"/>
          <a:srcRect l="0" t="0" r="3231" b="0"/>
          <a:stretch/>
        </p:blipFill>
        <p:spPr>
          <a:xfrm>
            <a:off x="360360" y="3600000"/>
            <a:ext cx="5398920" cy="169128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D9DA9C-E131-4D21-8DD3-C2DA784AAFB9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40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CIRCUIT DESIGN AND SIMULATION</a:t>
            </a:r>
            <a:endParaRPr lang="en-GB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360000" y="1305000"/>
            <a:ext cx="9359280" cy="49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Motor driver circuit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/>
          <p:cNvPicPr/>
          <p:nvPr/>
        </p:nvPicPr>
        <p:blipFill>
          <a:blip r:embed="rId1"/>
          <a:stretch/>
        </p:blipFill>
        <p:spPr>
          <a:xfrm>
            <a:off x="469800" y="1920240"/>
            <a:ext cx="5469480" cy="2939040"/>
          </a:xfrm>
          <a:prstGeom prst="rect">
            <a:avLst/>
          </a:prstGeom>
          <a:noFill/>
          <a:ln w="10800">
            <a:noFill/>
          </a:ln>
        </p:spPr>
      </p:pic>
      <p:sp>
        <p:nvSpPr>
          <p:cNvPr id="66" name=""/>
          <p:cNvSpPr/>
          <p:nvPr/>
        </p:nvSpPr>
        <p:spPr>
          <a:xfrm>
            <a:off x="6120000" y="1980000"/>
            <a:ext cx="3779280" cy="19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200" b="0" u="none" strike="noStrike">
                <a:solidFill>
                  <a:srgbClr val="2c3e50"/>
                </a:solidFill>
                <a:effectLst/>
                <a:uFillTx/>
                <a:latin typeface="Times New Roman"/>
                <a:ea typeface="DejaVu Sans"/>
              </a:rPr>
              <a:t>ULN2003A driver circuit was designed to drive stepper motors and simulation went as expected</a:t>
            </a:r>
            <a:endParaRPr lang="en-GB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C16DE4-6248-462D-B433-52F65D133384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280" cy="71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CONCLUSION</a:t>
            </a:r>
            <a:endParaRPr lang="en-GB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280" cy="37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Work done to date; system architecture design, computer vision pipeline, database creation, schematic design and electronic components’ simulation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50000"/>
              </a:lnSpc>
              <a:spcAft>
                <a:spcPts val="1057"/>
              </a:spcAft>
              <a:buClr>
                <a:srgbClr val="2c3e5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2c3e50"/>
                </a:solidFill>
                <a:effectLst/>
                <a:uFillTx/>
                <a:latin typeface="Times New Roman"/>
              </a:rPr>
              <a:t>Next progress; authentication system, hardware components procurement, circuit integration and enclosure design and implementation 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1E24978-8250-48B2-B2AD-9A457DA37E27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LibreOffice/25.8.5.2$Linux_X86_64 LibreOffice_project/252c20f6956e3db0b52e6e2f9dda67263513c8fc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2026-03-05T12:54:50Z</dcterms:created>
  <dc:creator/>
  <dc:description>This work is licensed under a Creative Commons 0 License.
It makes use of the works of Jun NOGATA.</dc:description>
  <dc:language>en-GB</dc:language>
  <cp:lastModifiedBy/>
  <dcterms:modified xsi:type="dcterms:W3CDTF">2026-03-06T08:27:34Z</dcterms:modified>
  <cp:revision>9</cp:revision>
  <dc:subject/>
  <dc:title>Midnightblue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