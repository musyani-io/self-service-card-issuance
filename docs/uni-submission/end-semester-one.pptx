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2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Midnight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5400000"/>
            <a:ext cx="10080000" cy="270000"/>
          </a:xfrm>
          <a:prstGeom prst="rect">
            <a:avLst/>
          </a:prstGeom>
          <a:solidFill>
            <a:srgbClr val="2c3e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endParaRPr lang="en-GB" sz="14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3" name=""/>
          <p:cNvSpPr/>
          <p:nvPr/>
        </p:nvSpPr>
        <p:spPr>
          <a:xfrm>
            <a:off x="0" y="0"/>
            <a:ext cx="10080000" cy="1215000"/>
          </a:xfrm>
          <a:prstGeom prst="rect">
            <a:avLst/>
          </a:prstGeom>
          <a:solidFill>
            <a:srgbClr val="2c3e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endParaRPr lang="en-GB" sz="14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4" name=""/>
          <p:cNvSpPr/>
          <p:nvPr/>
        </p:nvSpPr>
        <p:spPr>
          <a:xfrm>
            <a:off x="9315000" y="5175000"/>
            <a:ext cx="450000" cy="450000"/>
          </a:xfrm>
          <a:prstGeom prst="ellipse">
            <a:avLst/>
          </a:prstGeom>
          <a:solidFill>
            <a:srgbClr val="1abc9c"/>
          </a:solidFill>
          <a:ln w="0">
            <a:solidFill>
              <a:srgbClr val="1abc9c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endParaRPr lang="en-GB" sz="14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60000" cy="71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to edit the title text format</a:t>
            </a:r>
            <a:endParaRPr lang="en-GB" sz="32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360000" y="1485000"/>
            <a:ext cx="9360000" cy="37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24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Click to edit the outline text format</a:t>
            </a:r>
            <a:endParaRPr lang="en-GB" sz="24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864000" lvl="1" indent="-324000">
              <a:spcAft>
                <a:spcPts val="850"/>
              </a:spcAft>
              <a:buClr>
                <a:srgbClr val="2c3e5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Second Outline Level</a:t>
            </a:r>
            <a:endParaRPr lang="en-GB" sz="21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1296000" lvl="2" indent="-288000">
              <a:spcAft>
                <a:spcPts val="635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Third Outline Level</a:t>
            </a:r>
            <a:endParaRPr lang="en-GB" sz="18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1728000" lvl="3" indent="-216000">
              <a:spcAft>
                <a:spcPts val="425"/>
              </a:spcAft>
              <a:buClr>
                <a:srgbClr val="2c3e50"/>
              </a:buClr>
              <a:buSzPct val="75000"/>
              <a:buFont typeface="Symbol" charset="2"/>
              <a:buChar char=""/>
            </a:pPr>
            <a:r>
              <a:rPr lang="en-GB" sz="15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Fourth Outline Level</a:t>
            </a:r>
            <a:endParaRPr lang="en-GB" sz="15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2160000" lvl="4" indent="-216000">
              <a:spcAft>
                <a:spcPts val="213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15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Fifth Outline Level</a:t>
            </a:r>
            <a:endParaRPr lang="en-GB" sz="15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2592000" lvl="5" indent="-216000">
              <a:spcAft>
                <a:spcPts val="213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15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Sixth Outline Level</a:t>
            </a:r>
            <a:endParaRPr lang="en-GB" sz="15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marL="3024000" lvl="6" indent="-216000">
              <a:spcAft>
                <a:spcPts val="213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15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Seventh Outline Level</a:t>
            </a:r>
            <a:endParaRPr lang="en-GB" sz="15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dt" idx="1"/>
          </p:nvPr>
        </p:nvSpPr>
        <p:spPr>
          <a:xfrm>
            <a:off x="360000" y="5400000"/>
            <a:ext cx="2880000" cy="31140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buNone/>
            </a:pPr>
            <a:r>
              <a: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&lt;date/time&gt;</a:t>
            </a:r>
            <a:endParaRPr lang="en-GB" sz="18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ftr" idx="2"/>
          </p:nvPr>
        </p:nvSpPr>
        <p:spPr>
          <a:xfrm>
            <a:off x="3420000" y="5400000"/>
            <a:ext cx="3240000" cy="31140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&lt;footer&gt;</a:t>
            </a:r>
            <a:endParaRPr lang="en-GB" sz="18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sldNum" idx="3"/>
          </p:nvPr>
        </p:nvSpPr>
        <p:spPr>
          <a:xfrm>
            <a:off x="9180000" y="5175000"/>
            <a:ext cx="720000" cy="45000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ctr">
            <a:spAutoFit/>
          </a:bodyPr>
          <a:lstStyle>
            <a:lvl1pPr indent="0" algn="ctr">
              <a:buNone/>
              <a:def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fld id="{83C045B1-C0F7-45BB-B73D-637CF7C671B9}" type="slidenum">
              <a: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&lt;number&gt;</a:t>
            </a:fld>
            <a:endParaRPr lang="en-GB" sz="18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Midnightblu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>
            <a:off x="0" y="0"/>
            <a:ext cx="10080000" cy="5670000"/>
          </a:xfrm>
          <a:prstGeom prst="rect">
            <a:avLst/>
          </a:prstGeom>
          <a:solidFill>
            <a:srgbClr val="2c3e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endParaRPr lang="en-GB" sz="14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1" name=""/>
          <p:cNvSpPr/>
          <p:nvPr/>
        </p:nvSpPr>
        <p:spPr>
          <a:xfrm>
            <a:off x="0" y="0"/>
            <a:ext cx="10080000" cy="3780000"/>
          </a:xfrm>
          <a:prstGeom prst="rect">
            <a:avLst/>
          </a:prstGeom>
          <a:solidFill>
            <a:srgbClr val="1abc9c"/>
          </a:solidFill>
          <a:ln w="0">
            <a:solidFill>
              <a:srgbClr val="1abc9c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endParaRPr lang="en-GB" sz="14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360000" y="2835000"/>
            <a:ext cx="9360000" cy="71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noAutofit/>
          </a:bodyPr>
          <a:p>
            <a:pPr indent="0" algn="ctr">
              <a:buNone/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to edit the title text format</a:t>
            </a:r>
            <a:endParaRPr lang="en-GB" sz="32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360000" y="3915000"/>
            <a:ext cx="9360000" cy="148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500" lnSpcReduction="19999"/>
          </a:bodyPr>
          <a:p>
            <a:pPr marL="432000" indent="0">
              <a:spcAft>
                <a:spcPts val="655"/>
              </a:spcAft>
            </a:pPr>
            <a:r>
              <a:rPr lang="en-GB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to edit the outline text format</a:t>
            </a:r>
            <a:endParaRPr lang="en-GB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marL="864000" lvl="1" indent="0">
              <a:spcAft>
                <a:spcPts val="850"/>
              </a:spcAft>
            </a:pPr>
            <a:r>
              <a:rPr lang="en-GB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Second Outline Level</a:t>
            </a:r>
            <a:endParaRPr lang="en-GB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marL="1296000" lvl="2" indent="0">
              <a:spcAft>
                <a:spcPts val="635"/>
              </a:spcAft>
            </a:pPr>
            <a:r>
              <a:rPr lang="en-GB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Third Outline Level</a:t>
            </a:r>
            <a:endParaRPr lang="en-GB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marL="1728000" lvl="3" indent="0">
              <a:spcAft>
                <a:spcPts val="425"/>
              </a:spcAft>
            </a:pPr>
            <a:r>
              <a:rPr lang="en-GB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Fourth Outline Level</a:t>
            </a:r>
            <a:endParaRPr lang="en-GB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marL="2160000" lvl="4" indent="0">
              <a:spcAft>
                <a:spcPts val="213"/>
              </a:spcAft>
            </a:pPr>
            <a:r>
              <a:rPr lang="en-GB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Fifth Outline Level</a:t>
            </a:r>
            <a:endParaRPr lang="en-GB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marL="2592000" lvl="5" indent="0">
              <a:spcAft>
                <a:spcPts val="213"/>
              </a:spcAft>
            </a:pPr>
            <a:r>
              <a:rPr lang="en-GB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Sixth Outline Level</a:t>
            </a:r>
            <a:endParaRPr lang="en-GB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marL="3024000" lvl="6" indent="0">
              <a:spcAft>
                <a:spcPts val="213"/>
              </a:spcAft>
            </a:pPr>
            <a:r>
              <a:rPr lang="en-GB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Seventh Outline Level</a:t>
            </a:r>
            <a:endParaRPr lang="en-GB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4"/>
          </p:nvPr>
        </p:nvSpPr>
        <p:spPr>
          <a:xfrm>
            <a:off x="360000" y="5400000"/>
            <a:ext cx="2880000" cy="31140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buNone/>
            </a:pPr>
            <a:r>
              <a: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&lt;date/time&gt;</a:t>
            </a:r>
            <a:endParaRPr lang="en-GB" sz="18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5"/>
          </p:nvPr>
        </p:nvSpPr>
        <p:spPr>
          <a:xfrm>
            <a:off x="3420000" y="5400000"/>
            <a:ext cx="3240000" cy="31140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&lt;footer&gt;</a:t>
            </a:r>
            <a:endParaRPr lang="en-GB" sz="18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6"/>
          </p:nvPr>
        </p:nvSpPr>
        <p:spPr>
          <a:xfrm>
            <a:off x="9180000" y="5130000"/>
            <a:ext cx="720000" cy="54000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ctr">
            <a:spAutoFit/>
          </a:bodyPr>
          <a:lstStyle>
            <a:lvl1pPr indent="0" algn="ctr">
              <a:buNone/>
              <a:def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fld id="{19D2BFDA-566A-40E3-8BB1-597613869AF5}" type="slidenum">
              <a: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&lt;number&gt;</a:t>
            </a:fld>
            <a:endParaRPr lang="en-GB" sz="18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Midnightblu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"/>
          <p:cNvSpPr/>
          <p:nvPr/>
        </p:nvSpPr>
        <p:spPr>
          <a:xfrm>
            <a:off x="0" y="0"/>
            <a:ext cx="10080000" cy="5670000"/>
          </a:xfrm>
          <a:prstGeom prst="rect">
            <a:avLst/>
          </a:prstGeom>
          <a:solidFill>
            <a:srgbClr val="2c3e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endParaRPr lang="en-GB" sz="14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18" name=""/>
          <p:cNvSpPr/>
          <p:nvPr/>
        </p:nvSpPr>
        <p:spPr>
          <a:xfrm>
            <a:off x="2520000" y="1350000"/>
            <a:ext cx="5040000" cy="1890000"/>
          </a:xfrm>
          <a:prstGeom prst="wedgeRectCallout">
            <a:avLst>
              <a:gd name="adj1" fmla="val -34032"/>
              <a:gd name="adj2" fmla="val 132916"/>
            </a:avLst>
          </a:prstGeom>
          <a:solidFill>
            <a:srgbClr val="ffffff"/>
          </a:solidFill>
          <a:ln w="72000">
            <a:solidFill>
              <a:srgbClr val="1abc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120600" rIns="120600" tIns="75600" bIns="75600" anchor="ctr">
            <a:noAutofit/>
          </a:bodyPr>
          <a:p>
            <a:endParaRPr lang="en-GB" sz="14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</p:txBody>
      </p: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2700000" y="1485000"/>
            <a:ext cx="4680000" cy="16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noAutofit/>
          </a:bodyPr>
          <a:p>
            <a:pPr indent="0" algn="ctr">
              <a:buNone/>
            </a:pPr>
            <a:r>
              <a:rPr lang="en-GB" sz="27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Click to edit the title text format</a:t>
            </a:r>
            <a:endParaRPr lang="en-GB" sz="27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3420000" y="3240000"/>
            <a:ext cx="6300000" cy="16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0">
              <a:spcAft>
                <a:spcPts val="655"/>
              </a:spcAft>
            </a:pPr>
            <a:r>
              <a:rPr lang="en-GB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to edit the outline text format</a:t>
            </a:r>
            <a:endParaRPr lang="en-GB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marL="864000" lvl="1" indent="0">
              <a:spcAft>
                <a:spcPts val="850"/>
              </a:spcAft>
            </a:pPr>
            <a:r>
              <a:rPr lang="en-GB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Second Outline Level</a:t>
            </a:r>
            <a:endParaRPr lang="en-GB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marL="1296000" lvl="2" indent="0">
              <a:spcAft>
                <a:spcPts val="635"/>
              </a:spcAft>
            </a:pPr>
            <a:r>
              <a:rPr lang="en-GB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Third Outline Level</a:t>
            </a:r>
            <a:endParaRPr lang="en-GB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marL="1728000" lvl="3" indent="0">
              <a:spcAft>
                <a:spcPts val="425"/>
              </a:spcAft>
            </a:pPr>
            <a:r>
              <a:rPr lang="en-GB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Fourth Outline Level</a:t>
            </a:r>
            <a:endParaRPr lang="en-GB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marL="2160000" lvl="4" indent="0">
              <a:spcAft>
                <a:spcPts val="213"/>
              </a:spcAft>
            </a:pPr>
            <a:r>
              <a:rPr lang="en-GB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Fifth Outline Level</a:t>
            </a:r>
            <a:endParaRPr lang="en-GB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marL="2592000" lvl="5" indent="0">
              <a:spcAft>
                <a:spcPts val="213"/>
              </a:spcAft>
            </a:pPr>
            <a:r>
              <a:rPr lang="en-GB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Sixth Outline Level</a:t>
            </a:r>
            <a:endParaRPr lang="en-GB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  <a:p>
            <a:pPr marL="3024000" lvl="6" indent="0">
              <a:spcAft>
                <a:spcPts val="213"/>
              </a:spcAft>
            </a:pPr>
            <a:r>
              <a:rPr lang="en-GB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Seventh Outline Level</a:t>
            </a:r>
            <a:endParaRPr lang="en-GB" sz="1500" b="0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7"/>
          </p:nvPr>
        </p:nvSpPr>
        <p:spPr>
          <a:xfrm>
            <a:off x="360000" y="5400000"/>
            <a:ext cx="2880000" cy="31140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buNone/>
            </a:pPr>
            <a:r>
              <a: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&lt;date/time&gt;</a:t>
            </a:r>
            <a:endParaRPr lang="en-GB" sz="18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ftr" idx="8"/>
          </p:nvPr>
        </p:nvSpPr>
        <p:spPr>
          <a:xfrm>
            <a:off x="3420000" y="5400000"/>
            <a:ext cx="3240000" cy="31140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r>
              <a: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&lt;footer&gt;</a:t>
            </a:r>
            <a:endParaRPr lang="en-GB" sz="18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sldNum" idx="9"/>
          </p:nvPr>
        </p:nvSpPr>
        <p:spPr>
          <a:xfrm>
            <a:off x="9180000" y="5130000"/>
            <a:ext cx="720000" cy="54000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ctr">
            <a:spAutoFit/>
          </a:bodyPr>
          <a:lstStyle>
            <a:lvl1pPr indent="0" algn="ctr">
              <a:buNone/>
              <a:def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buNone/>
            </a:pPr>
            <a:fld id="{C8F0DD7C-04AA-45B7-85A8-2C51F3333B9F}" type="slidenum">
              <a: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&lt;number&gt;</a:t>
            </a:fld>
            <a:endParaRPr lang="en-GB" sz="18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60000" cy="7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noAutofit/>
          </a:bodyPr>
          <a:p>
            <a:pPr indent="0" algn="ctr">
              <a:buNone/>
            </a:pPr>
            <a:r>
              <a:rPr lang="en-GB" sz="3800" b="1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FINAL YEAR PROJECT PRESENTATION</a:t>
            </a:r>
            <a:endParaRPr lang="en-GB" sz="3800" b="1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360000" y="1485000"/>
            <a:ext cx="9360000" cy="37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0">
              <a:lnSpc>
                <a:spcPct val="150000"/>
              </a:lnSpc>
              <a:spcAft>
                <a:spcPts val="1057"/>
              </a:spcAft>
              <a:buNone/>
            </a:pPr>
            <a:r>
              <a:rPr lang="en-GB" sz="2800" b="1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PROGRESS STAGE: </a:t>
            </a:r>
            <a:r>
              <a:rPr lang="en-GB" sz="2800" b="0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End of Semester 1</a:t>
            </a:r>
            <a:endParaRPr lang="en-GB" sz="2800" b="1" u="none" strike="noStrike">
              <a:solidFill>
                <a:srgbClr val="2c3e50"/>
              </a:solidFill>
              <a:effectLst/>
              <a:uFillTx/>
              <a:latin typeface="Times New Roman"/>
            </a:endParaRPr>
          </a:p>
          <a:p>
            <a:pPr marL="432000" indent="0">
              <a:lnSpc>
                <a:spcPct val="150000"/>
              </a:lnSpc>
              <a:spcAft>
                <a:spcPts val="1057"/>
              </a:spcAft>
              <a:buNone/>
            </a:pPr>
            <a:r>
              <a:rPr lang="en-GB" sz="2800" b="1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CANDIDATE: </a:t>
            </a:r>
            <a:r>
              <a:rPr lang="en-GB" sz="2800" b="0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Musyani, Samuel Dan</a:t>
            </a:r>
            <a:endParaRPr lang="en-GB" sz="2800" b="1" u="none" strike="noStrike">
              <a:solidFill>
                <a:srgbClr val="2c3e50"/>
              </a:solidFill>
              <a:effectLst/>
              <a:uFillTx/>
              <a:latin typeface="Times New Roman"/>
            </a:endParaRPr>
          </a:p>
          <a:p>
            <a:pPr marL="432000" indent="0">
              <a:lnSpc>
                <a:spcPct val="150000"/>
              </a:lnSpc>
              <a:spcAft>
                <a:spcPts val="1057"/>
              </a:spcAft>
              <a:buNone/>
            </a:pPr>
            <a:r>
              <a:rPr lang="en-GB" sz="2800" b="1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SUPERVISOR: </a:t>
            </a:r>
            <a:r>
              <a:rPr lang="en-GB" sz="2800" b="0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Dr. Hashim Iddi</a:t>
            </a:r>
            <a:endParaRPr lang="en-GB" sz="2800" b="1" u="none" strike="noStrike">
              <a:solidFill>
                <a:srgbClr val="2c3e50"/>
              </a:solidFill>
              <a:effectLst/>
              <a:uFillTx/>
              <a:latin typeface="Times New Roman"/>
            </a:endParaRPr>
          </a:p>
          <a:p>
            <a:pPr marL="432000" indent="0">
              <a:lnSpc>
                <a:spcPct val="150000"/>
              </a:lnSpc>
              <a:spcAft>
                <a:spcPts val="1057"/>
              </a:spcAft>
              <a:buNone/>
            </a:pPr>
            <a:r>
              <a:rPr lang="en-GB" sz="2800" b="1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PROJECT TITLE: </a:t>
            </a:r>
            <a:r>
              <a:rPr lang="en-GB" sz="2800" b="0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Design and Implementation of an Automated ID Card Issuance System</a:t>
            </a:r>
            <a:endParaRPr lang="en-GB" sz="2800" b="1" u="none" strike="noStrike">
              <a:solidFill>
                <a:srgbClr val="2c3e5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1BA709A-E03F-4DC3-A562-D119C8A09C9C}" type="slidenum">
              <a:t>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60000" cy="71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noAutofit/>
          </a:bodyPr>
          <a:p>
            <a:pPr indent="0" algn="ctr">
              <a:buNone/>
            </a:pPr>
            <a:r>
              <a:rPr lang="en-GB" sz="5400" b="1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INTRODUCTION</a:t>
            </a:r>
            <a:endParaRPr lang="en-GB" sz="5400" b="1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360000" y="1485000"/>
            <a:ext cx="9360000" cy="37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algn="just">
              <a:lnSpc>
                <a:spcPct val="150000"/>
              </a:lnSpc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2800" b="1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The project aims to ease ID card issuance process for registered students by developing a prototype of an automated system.</a:t>
            </a:r>
            <a:endParaRPr lang="en-GB" sz="2800" b="1" u="none" strike="noStrike">
              <a:solidFill>
                <a:srgbClr val="2c3e50"/>
              </a:solidFill>
              <a:effectLst/>
              <a:uFillTx/>
              <a:latin typeface="Times New Roman"/>
            </a:endParaRPr>
          </a:p>
          <a:p>
            <a:pPr marL="432000" indent="-324000" algn="just">
              <a:lnSpc>
                <a:spcPct val="150000"/>
              </a:lnSpc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2800" b="1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Registered students will be able to return their expired cards, and retrieve their valid ID cards  for that particular academic year.</a:t>
            </a:r>
            <a:endParaRPr lang="en-GB" sz="2800" b="1" u="none" strike="noStrike">
              <a:solidFill>
                <a:srgbClr val="2c3e5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8B77DCF-D799-4693-9211-2E58140C4F87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60000" cy="71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noAutofit/>
          </a:bodyPr>
          <a:p>
            <a:pPr indent="0" algn="ctr">
              <a:buNone/>
            </a:pPr>
            <a:r>
              <a:rPr lang="en-GB" sz="5400" b="1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PROBLEM STATEMENT</a:t>
            </a:r>
            <a:endParaRPr lang="en-GB" sz="5400" b="1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360000" y="4140000"/>
            <a:ext cx="9360000" cy="112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50000"/>
              </a:lnSpc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2400" b="1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With high student volumes, narrow administrative working window leads to long queues and delayed distribution.</a:t>
            </a:r>
            <a:endParaRPr lang="en-GB" sz="2400" b="1" u="none" strike="noStrike">
              <a:solidFill>
                <a:srgbClr val="2c3e50"/>
              </a:solidFill>
              <a:effectLst/>
              <a:uFillTx/>
              <a:latin typeface="Times New Roman"/>
            </a:endParaRPr>
          </a:p>
        </p:txBody>
      </p:sp>
      <p:pic>
        <p:nvPicPr>
          <p:cNvPr id="30" name=""/>
          <p:cNvPicPr/>
          <p:nvPr/>
        </p:nvPicPr>
        <p:blipFill>
          <a:blip r:embed="rId1"/>
          <a:stretch/>
        </p:blipFill>
        <p:spPr>
          <a:xfrm>
            <a:off x="900000" y="1260000"/>
            <a:ext cx="7920000" cy="3056400"/>
          </a:xfrm>
          <a:prstGeom prst="rect">
            <a:avLst/>
          </a:prstGeom>
          <a:noFill/>
          <a:ln w="1080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FF081DD-1B2F-4BC0-8768-F2F6A1D8D0CF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60000" cy="71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noAutofit/>
          </a:bodyPr>
          <a:p>
            <a:pPr indent="0" algn="ctr">
              <a:buNone/>
            </a:pPr>
            <a:r>
              <a:rPr lang="en-GB" sz="5400" b="1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PROPOSED SOLUTIONS</a:t>
            </a:r>
            <a:endParaRPr lang="en-GB" sz="5400" b="1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0" y="1260000"/>
            <a:ext cx="9360000" cy="54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 anchorCtr="1">
            <a:normAutofit/>
          </a:bodyPr>
          <a:p>
            <a:pPr indent="0" algn="ctr">
              <a:spcAft>
                <a:spcPts val="1057"/>
              </a:spcAft>
              <a:buNone/>
            </a:pPr>
            <a:r>
              <a:rPr lang="en-GB" sz="2800" b="1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An automated card issuance system, with:</a:t>
            </a:r>
            <a:endParaRPr lang="en-GB" sz="2800" b="1" u="none" strike="noStrike">
              <a:solidFill>
                <a:srgbClr val="2c3e5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540000" y="1800000"/>
            <a:ext cx="3780000" cy="1440000"/>
          </a:xfrm>
          <a:prstGeom prst="flowChartAlternateProcess">
            <a:avLst/>
          </a:prstGeom>
          <a:solidFill>
            <a:srgbClr val="ffffff"/>
          </a:solidFill>
          <a:ln w="10800">
            <a:solidFill>
              <a:srgbClr val="808080"/>
            </a:solidFill>
            <a:round/>
          </a:ln>
          <a:effectLst>
            <a:outerShdw dist="101823" dir="270000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ctr">
              <a:lnSpc>
                <a:spcPct val="150000"/>
              </a:lnSpc>
            </a:pPr>
            <a:r>
              <a:rPr lang="en-GB" sz="2000" b="1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Automated reliable dispensing:</a:t>
            </a:r>
            <a:endParaRPr lang="en-GB" sz="20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algn="ctr">
              <a:lnSpc>
                <a:spcPct val="150000"/>
              </a:lnSpc>
            </a:pPr>
            <a:r>
              <a:rPr lang="en-GB" sz="2000" b="0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Sorts and distributes cards </a:t>
            </a:r>
            <a:endParaRPr lang="en-GB" sz="20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algn="ctr">
              <a:lnSpc>
                <a:spcPct val="150000"/>
              </a:lnSpc>
            </a:pPr>
            <a:r>
              <a:rPr lang="en-GB" sz="2000" b="0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24/7 with real-time control</a:t>
            </a:r>
            <a:endParaRPr lang="en-GB" sz="20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</p:txBody>
      </p:sp>
      <p:sp>
        <p:nvSpPr>
          <p:cNvPr id="34" name=""/>
          <p:cNvSpPr/>
          <p:nvPr/>
        </p:nvSpPr>
        <p:spPr>
          <a:xfrm>
            <a:off x="540000" y="3420000"/>
            <a:ext cx="3780000" cy="1620000"/>
          </a:xfrm>
          <a:prstGeom prst="flowChartAlternateProcess">
            <a:avLst/>
          </a:prstGeom>
          <a:solidFill>
            <a:srgbClr val="ffffff"/>
          </a:solidFill>
          <a:ln w="10800">
            <a:solidFill>
              <a:srgbClr val="808080"/>
            </a:solidFill>
            <a:round/>
          </a:ln>
          <a:effectLst>
            <a:outerShdw dist="101823" dir="270000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 anchorCtr="1">
            <a:noAutofit/>
          </a:bodyPr>
          <a:p>
            <a:pPr algn="ctr">
              <a:lnSpc>
                <a:spcPct val="150000"/>
              </a:lnSpc>
            </a:pPr>
            <a:r>
              <a:rPr lang="en-GB" sz="2000" b="1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Computer Vision:</a:t>
            </a:r>
            <a:endParaRPr lang="en-GB" sz="2000" b="0" u="none" strike="noStrike">
              <a:solidFill>
                <a:srgbClr val="2c3e50"/>
              </a:solidFill>
              <a:effectLst/>
              <a:uFillTx/>
              <a:latin typeface="Times New Roman"/>
            </a:endParaRPr>
          </a:p>
          <a:p>
            <a:pPr algn="ctr">
              <a:lnSpc>
                <a:spcPct val="150000"/>
              </a:lnSpc>
            </a:pPr>
            <a:r>
              <a:rPr lang="en-GB" sz="2000" b="0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Automated card details verification</a:t>
            </a:r>
            <a:endParaRPr lang="en-GB" sz="2000" b="0" u="none" strike="noStrike">
              <a:solidFill>
                <a:srgbClr val="2c3e50"/>
              </a:solidFill>
              <a:effectLst/>
              <a:uFillTx/>
              <a:latin typeface="Times New Roman"/>
            </a:endParaRPr>
          </a:p>
          <a:p>
            <a:pPr algn="ctr">
              <a:lnSpc>
                <a:spcPct val="150000"/>
              </a:lnSpc>
            </a:pPr>
            <a:r>
              <a:rPr lang="en-GB" sz="2000" b="0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for sorting and distribution</a:t>
            </a:r>
            <a:endParaRPr lang="en-GB" sz="2000" b="0" u="none" strike="noStrike">
              <a:solidFill>
                <a:srgbClr val="2c3e5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5040000" y="1800000"/>
            <a:ext cx="3780000" cy="1440000"/>
          </a:xfrm>
          <a:prstGeom prst="flowChartAlternateProcess">
            <a:avLst/>
          </a:prstGeom>
          <a:solidFill>
            <a:srgbClr val="ffffff"/>
          </a:solidFill>
          <a:ln w="10800">
            <a:solidFill>
              <a:srgbClr val="808080"/>
            </a:solidFill>
            <a:round/>
          </a:ln>
          <a:effectLst>
            <a:outerShdw dist="101823" dir="270000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ctr">
              <a:lnSpc>
                <a:spcPct val="150000"/>
              </a:lnSpc>
            </a:pPr>
            <a:r>
              <a:rPr lang="en-GB" sz="2000" b="1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Secure Authentication:</a:t>
            </a:r>
            <a:endParaRPr lang="en-GB" sz="20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algn="ctr">
              <a:lnSpc>
                <a:spcPct val="150000"/>
              </a:lnSpc>
            </a:pPr>
            <a:r>
              <a:rPr lang="en-GB" sz="2000" b="0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OTP and PIN for student </a:t>
            </a:r>
            <a:endParaRPr lang="en-GB" sz="20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  <a:p>
            <a:pPr algn="ctr">
              <a:lnSpc>
                <a:spcPct val="150000"/>
              </a:lnSpc>
            </a:pPr>
            <a:r>
              <a:rPr lang="en-GB" sz="2000" b="0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verification</a:t>
            </a:r>
            <a:endParaRPr lang="en-GB" sz="20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</p:txBody>
      </p:sp>
      <p:sp>
        <p:nvSpPr>
          <p:cNvPr id="36" name=""/>
          <p:cNvSpPr/>
          <p:nvPr/>
        </p:nvSpPr>
        <p:spPr>
          <a:xfrm>
            <a:off x="5040000" y="3420000"/>
            <a:ext cx="3780000" cy="1620000"/>
          </a:xfrm>
          <a:prstGeom prst="flowChartAlternateProcess">
            <a:avLst/>
          </a:prstGeom>
          <a:solidFill>
            <a:srgbClr val="ffffff"/>
          </a:solidFill>
          <a:ln w="10800">
            <a:solidFill>
              <a:srgbClr val="808080"/>
            </a:solidFill>
            <a:round/>
          </a:ln>
          <a:effectLst>
            <a:outerShdw dist="101823" dir="270000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ctr">
              <a:lnSpc>
                <a:spcPct val="150000"/>
              </a:lnSpc>
            </a:pPr>
            <a:r>
              <a:rPr lang="en-GB" sz="2100" b="1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Audit logging:</a:t>
            </a:r>
            <a:endParaRPr lang="en-GB" sz="2100" b="0" u="none" strike="noStrike">
              <a:solidFill>
                <a:srgbClr val="2c3e50"/>
              </a:solidFill>
              <a:effectLst/>
              <a:uFillTx/>
              <a:latin typeface="Times New Roman"/>
            </a:endParaRPr>
          </a:p>
          <a:p>
            <a:pPr algn="ctr">
              <a:lnSpc>
                <a:spcPct val="150000"/>
              </a:lnSpc>
            </a:pPr>
            <a:r>
              <a:rPr lang="en-GB" sz="2100" b="0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Record all activities happening </a:t>
            </a:r>
            <a:endParaRPr lang="en-GB" sz="2100" b="0" u="none" strike="noStrike">
              <a:solidFill>
                <a:srgbClr val="2c3e50"/>
              </a:solidFill>
              <a:effectLst/>
              <a:uFillTx/>
              <a:latin typeface="Times New Roman"/>
            </a:endParaRPr>
          </a:p>
          <a:p>
            <a:pPr algn="ctr">
              <a:lnSpc>
                <a:spcPct val="150000"/>
              </a:lnSpc>
            </a:pPr>
            <a:r>
              <a:rPr lang="en-GB" sz="2100" b="0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for debugging and tracking</a:t>
            </a:r>
            <a:endParaRPr lang="en-GB" sz="2100" b="0" u="none" strike="noStrike">
              <a:solidFill>
                <a:srgbClr val="2c3e5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860AFE8-5AF0-48EA-9F51-41DB2E5EAA3F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60000" cy="71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noAutofit/>
          </a:bodyPr>
          <a:p>
            <a:pPr indent="0" algn="ctr">
              <a:buNone/>
            </a:pPr>
            <a:r>
              <a:rPr lang="en-GB" sz="5400" b="1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OBJECTIVES</a:t>
            </a:r>
            <a:endParaRPr lang="en-GB" sz="5400" b="1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360000" y="1260000"/>
            <a:ext cx="9360000" cy="37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50000"/>
              </a:lnSpc>
              <a:spcAft>
                <a:spcPts val="1057"/>
              </a:spcAft>
              <a:buNone/>
            </a:pPr>
            <a:r>
              <a:rPr lang="en-GB" sz="2400" b="1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Main Objective:</a:t>
            </a:r>
            <a:endParaRPr lang="en-GB" sz="2400" b="1" u="none" strike="noStrike">
              <a:solidFill>
                <a:srgbClr val="2c3e50"/>
              </a:solidFill>
              <a:effectLst/>
              <a:uFillTx/>
              <a:latin typeface="Times New Roman"/>
            </a:endParaRPr>
          </a:p>
          <a:p>
            <a:pPr marL="432000" indent="-324000">
              <a:lnSpc>
                <a:spcPct val="150000"/>
              </a:lnSpc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2400" b="1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To design and implement an Automated ID card Issuance System</a:t>
            </a:r>
            <a:endParaRPr lang="en-GB" sz="2400" b="1" u="none" strike="noStrike">
              <a:solidFill>
                <a:srgbClr val="2c3e50"/>
              </a:solidFill>
              <a:effectLst/>
              <a:uFillTx/>
              <a:latin typeface="Times New Roman"/>
            </a:endParaRPr>
          </a:p>
          <a:p>
            <a:pPr indent="0">
              <a:lnSpc>
                <a:spcPct val="150000"/>
              </a:lnSpc>
              <a:spcAft>
                <a:spcPts val="1057"/>
              </a:spcAft>
              <a:buNone/>
            </a:pPr>
            <a:r>
              <a:rPr lang="en-GB" sz="2400" b="1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Specific Objectives:</a:t>
            </a:r>
            <a:endParaRPr lang="en-GB" sz="2400" b="1" u="none" strike="noStrike">
              <a:solidFill>
                <a:srgbClr val="2c3e50"/>
              </a:solidFill>
              <a:effectLst/>
              <a:uFillTx/>
              <a:latin typeface="Times New Roman"/>
            </a:endParaRPr>
          </a:p>
          <a:p>
            <a:pPr marL="432000" indent="-324000">
              <a:lnSpc>
                <a:spcPct val="150000"/>
              </a:lnSpc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2400" b="1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To implement robust authentication </a:t>
            </a:r>
            <a:endParaRPr lang="en-GB" sz="2400" b="1" u="none" strike="noStrike">
              <a:solidFill>
                <a:srgbClr val="2c3e50"/>
              </a:solidFill>
              <a:effectLst/>
              <a:uFillTx/>
              <a:latin typeface="Times New Roman"/>
            </a:endParaRPr>
          </a:p>
          <a:p>
            <a:pPr marL="432000" indent="-324000">
              <a:lnSpc>
                <a:spcPct val="150000"/>
              </a:lnSpc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2400" b="1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To implement an actuator control system</a:t>
            </a:r>
            <a:endParaRPr lang="en-GB" sz="2400" b="1" u="none" strike="noStrike">
              <a:solidFill>
                <a:srgbClr val="2c3e50"/>
              </a:solidFill>
              <a:effectLst/>
              <a:uFillTx/>
              <a:latin typeface="Times New Roman"/>
            </a:endParaRPr>
          </a:p>
          <a:p>
            <a:pPr marL="432000" indent="-324000">
              <a:lnSpc>
                <a:spcPct val="150000"/>
              </a:lnSpc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2400" b="1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To enforce security policy and audit logging</a:t>
            </a:r>
            <a:endParaRPr lang="en-GB" sz="2400" b="1" u="none" strike="noStrike">
              <a:solidFill>
                <a:srgbClr val="2c3e5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C0E0C37-30DB-44D7-9486-56DC5235A98C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60000" cy="71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noAutofit/>
          </a:bodyPr>
          <a:p>
            <a:pPr indent="0" algn="ctr">
              <a:buNone/>
            </a:pPr>
            <a:r>
              <a:rPr lang="en-GB" sz="5400" b="1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SYSTEM ARCHITECTURE</a:t>
            </a:r>
            <a:endParaRPr lang="en-GB" sz="5400" b="1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360000" y="4140000"/>
            <a:ext cx="9360000" cy="112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50000"/>
              </a:lnSpc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2200" b="1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High – level controller manages authentication, UI, database and computer vision while low – level controller manages real – time controls and sensor integration.</a:t>
            </a:r>
            <a:endParaRPr lang="en-GB" sz="2200" b="1" u="none" strike="noStrike">
              <a:solidFill>
                <a:srgbClr val="2c3e50"/>
              </a:solidFill>
              <a:effectLst/>
              <a:uFillTx/>
              <a:latin typeface="Times New Roman"/>
            </a:endParaRPr>
          </a:p>
        </p:txBody>
      </p:sp>
      <p:pic>
        <p:nvPicPr>
          <p:cNvPr id="41" name=""/>
          <p:cNvPicPr/>
          <p:nvPr/>
        </p:nvPicPr>
        <p:blipFill>
          <a:blip r:embed="rId1"/>
          <a:stretch/>
        </p:blipFill>
        <p:spPr>
          <a:xfrm>
            <a:off x="180000" y="1257480"/>
            <a:ext cx="9540000" cy="2882520"/>
          </a:xfrm>
          <a:prstGeom prst="rect">
            <a:avLst/>
          </a:prstGeom>
          <a:noFill/>
          <a:ln w="1080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D131772-599A-43FB-8F6F-15FE65044B7C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60000" cy="71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noAutofit/>
          </a:bodyPr>
          <a:p>
            <a:pPr indent="0" algn="ctr">
              <a:buNone/>
            </a:pPr>
            <a:r>
              <a:rPr lang="en-GB" sz="5400" b="1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FUNCTIONAL WORKFLOW</a:t>
            </a:r>
            <a:endParaRPr lang="en-GB" sz="5400" b="1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43" name=""/>
          <p:cNvPicPr/>
          <p:nvPr/>
        </p:nvPicPr>
        <p:blipFill>
          <a:blip r:embed="rId1"/>
          <a:stretch/>
        </p:blipFill>
        <p:spPr>
          <a:xfrm>
            <a:off x="1082880" y="1080000"/>
            <a:ext cx="8277120" cy="4350240"/>
          </a:xfrm>
          <a:prstGeom prst="rect">
            <a:avLst/>
          </a:prstGeom>
          <a:noFill/>
          <a:ln w="1080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4248952-66DE-4921-A63E-01CC3017FB33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60000" cy="71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noAutofit/>
          </a:bodyPr>
          <a:p>
            <a:pPr indent="0" algn="ctr">
              <a:buNone/>
            </a:pPr>
            <a:r>
              <a:rPr lang="en-GB" sz="5400" b="1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FUNCTIONAL WORKFLOW</a:t>
            </a:r>
            <a:endParaRPr lang="en-GB" sz="5400" b="1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45" name=""/>
          <p:cNvPicPr/>
          <p:nvPr/>
        </p:nvPicPr>
        <p:blipFill>
          <a:blip r:embed="rId1"/>
          <a:stretch/>
        </p:blipFill>
        <p:spPr>
          <a:xfrm>
            <a:off x="180000" y="1260000"/>
            <a:ext cx="3760920" cy="4140000"/>
          </a:xfrm>
          <a:prstGeom prst="rect">
            <a:avLst/>
          </a:prstGeom>
          <a:noFill/>
          <a:ln w="10800">
            <a:noFill/>
          </a:ln>
        </p:spPr>
      </p:pic>
      <p:pic>
        <p:nvPicPr>
          <p:cNvPr id="46" name=""/>
          <p:cNvPicPr/>
          <p:nvPr/>
        </p:nvPicPr>
        <p:blipFill>
          <a:blip r:embed="rId2"/>
          <a:stretch/>
        </p:blipFill>
        <p:spPr>
          <a:xfrm>
            <a:off x="4320000" y="1260000"/>
            <a:ext cx="5652360" cy="4225320"/>
          </a:xfrm>
          <a:prstGeom prst="rect">
            <a:avLst/>
          </a:prstGeom>
          <a:noFill/>
          <a:ln w="1080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4259CA0-C183-4F4F-ACEA-9067C5A1869E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60000" cy="71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GB" sz="4800" b="1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COMPUTER VISION PIPELINE</a:t>
            </a:r>
            <a:endParaRPr lang="en-GB" sz="4800" b="1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48" name=""/>
          <p:cNvPicPr/>
          <p:nvPr/>
        </p:nvPicPr>
        <p:blipFill>
          <a:blip r:embed="rId1"/>
          <a:stretch/>
        </p:blipFill>
        <p:spPr>
          <a:xfrm>
            <a:off x="0" y="1186920"/>
            <a:ext cx="10079640" cy="1333080"/>
          </a:xfrm>
          <a:prstGeom prst="rect">
            <a:avLst/>
          </a:prstGeom>
          <a:noFill/>
          <a:ln w="10800">
            <a:noFill/>
          </a:ln>
        </p:spPr>
      </p:pic>
      <p:pic>
        <p:nvPicPr>
          <p:cNvPr id="49" name=""/>
          <p:cNvPicPr/>
          <p:nvPr/>
        </p:nvPicPr>
        <p:blipFill>
          <a:blip r:embed="rId2"/>
          <a:srcRect l="5719" t="0" r="7707" b="0"/>
          <a:stretch/>
        </p:blipFill>
        <p:spPr>
          <a:xfrm>
            <a:off x="156240" y="2776680"/>
            <a:ext cx="2723760" cy="1903320"/>
          </a:xfrm>
          <a:prstGeom prst="rect">
            <a:avLst/>
          </a:prstGeom>
          <a:noFill/>
          <a:ln w="10800">
            <a:noFill/>
          </a:ln>
        </p:spPr>
      </p:pic>
      <p:pic>
        <p:nvPicPr>
          <p:cNvPr id="50" name=""/>
          <p:cNvPicPr/>
          <p:nvPr/>
        </p:nvPicPr>
        <p:blipFill>
          <a:blip r:embed="rId3"/>
          <a:stretch/>
        </p:blipFill>
        <p:spPr>
          <a:xfrm>
            <a:off x="3240000" y="2774520"/>
            <a:ext cx="3021120" cy="1905480"/>
          </a:xfrm>
          <a:prstGeom prst="rect">
            <a:avLst/>
          </a:prstGeom>
          <a:noFill/>
          <a:ln w="10800">
            <a:noFill/>
          </a:ln>
        </p:spPr>
      </p:pic>
      <p:pic>
        <p:nvPicPr>
          <p:cNvPr id="51" name=""/>
          <p:cNvPicPr/>
          <p:nvPr/>
        </p:nvPicPr>
        <p:blipFill>
          <a:blip r:embed="rId4"/>
          <a:stretch/>
        </p:blipFill>
        <p:spPr>
          <a:xfrm>
            <a:off x="6621120" y="3240000"/>
            <a:ext cx="3278880" cy="1103760"/>
          </a:xfrm>
          <a:prstGeom prst="rect">
            <a:avLst/>
          </a:prstGeom>
          <a:noFill/>
          <a:ln w="10800">
            <a:noFill/>
          </a:ln>
        </p:spPr>
      </p:pic>
      <p:sp>
        <p:nvSpPr>
          <p:cNvPr id="52" name=""/>
          <p:cNvSpPr/>
          <p:nvPr/>
        </p:nvSpPr>
        <p:spPr>
          <a:xfrm>
            <a:off x="2880000" y="3600000"/>
            <a:ext cx="360000" cy="180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333333"/>
          </a:solidFill>
          <a:ln w="1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ctr"/>
            <a:endParaRPr lang="en-GB" sz="18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</p:txBody>
      </p:sp>
      <p:sp>
        <p:nvSpPr>
          <p:cNvPr id="53" name=""/>
          <p:cNvSpPr/>
          <p:nvPr/>
        </p:nvSpPr>
        <p:spPr>
          <a:xfrm>
            <a:off x="6261120" y="3600000"/>
            <a:ext cx="360000" cy="180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333333"/>
          </a:solidFill>
          <a:ln w="1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ctr"/>
            <a:endParaRPr lang="en-GB" sz="1800" b="0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502D4F5-B2C1-42F4-9F15-D0A2E478EEE0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60000" cy="71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GB" sz="4000" b="1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CIRCUIT DESIGN AND SIMULATION</a:t>
            </a:r>
            <a:endParaRPr lang="en-GB" sz="40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360000" y="1485000"/>
            <a:ext cx="9360000" cy="49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24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Power separation rail design</a:t>
            </a:r>
            <a:endParaRPr lang="en-GB" sz="24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</p:txBody>
      </p:sp>
      <p:pic>
        <p:nvPicPr>
          <p:cNvPr id="56" name=""/>
          <p:cNvPicPr/>
          <p:nvPr/>
        </p:nvPicPr>
        <p:blipFill>
          <a:blip r:embed="rId1"/>
          <a:stretch/>
        </p:blipFill>
        <p:spPr>
          <a:xfrm>
            <a:off x="339480" y="1980000"/>
            <a:ext cx="5600520" cy="3005280"/>
          </a:xfrm>
          <a:prstGeom prst="rect">
            <a:avLst/>
          </a:prstGeom>
          <a:noFill/>
          <a:ln w="10800">
            <a:noFill/>
          </a:ln>
        </p:spPr>
      </p:pic>
      <p:sp>
        <p:nvSpPr>
          <p:cNvPr id="57" name=""/>
          <p:cNvSpPr txBox="1"/>
          <p:nvPr/>
        </p:nvSpPr>
        <p:spPr>
          <a:xfrm>
            <a:off x="6120000" y="1980000"/>
            <a:ext cx="3780000" cy="21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50000"/>
              </a:lnSpc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2400" b="1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Separation is done to prevent inrush current (motors) interfering from logic components</a:t>
            </a:r>
            <a:endParaRPr lang="en-GB" sz="2400" b="1" u="none" strike="noStrike">
              <a:solidFill>
                <a:srgbClr val="2c3e5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45A2241-29EE-4D18-8C0A-994DB7E06EE9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60000" cy="71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noAutofit/>
          </a:bodyPr>
          <a:p>
            <a:pPr indent="0" algn="ctr">
              <a:buNone/>
            </a:pPr>
            <a:r>
              <a:rPr lang="en-GB" sz="4000" b="1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CIRCUIT DESIGN AND SIMULATION</a:t>
            </a:r>
            <a:endParaRPr lang="en-GB" sz="4000" b="1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360000" y="1305000"/>
            <a:ext cx="9360000" cy="49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2200" b="1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Reverse Polarity Protection Circuit</a:t>
            </a:r>
            <a:endParaRPr lang="en-GB" sz="2200" b="1" u="none" strike="noStrike">
              <a:solidFill>
                <a:srgbClr val="2c3e50"/>
              </a:solidFill>
              <a:effectLst/>
              <a:uFillTx/>
              <a:latin typeface="Times New Roman"/>
            </a:endParaRPr>
          </a:p>
        </p:txBody>
      </p:sp>
      <p:pic>
        <p:nvPicPr>
          <p:cNvPr id="60" name=""/>
          <p:cNvPicPr/>
          <p:nvPr/>
        </p:nvPicPr>
        <p:blipFill>
          <a:blip r:embed="rId1"/>
          <a:srcRect l="0" t="418" r="3231" b="4173"/>
          <a:stretch/>
        </p:blipFill>
        <p:spPr>
          <a:xfrm>
            <a:off x="360360" y="1800360"/>
            <a:ext cx="5399640" cy="1619640"/>
          </a:xfrm>
          <a:prstGeom prst="rect">
            <a:avLst/>
          </a:prstGeom>
          <a:noFill/>
          <a:ln w="10800">
            <a:noFill/>
          </a:ln>
        </p:spPr>
      </p:pic>
      <p:sp>
        <p:nvSpPr>
          <p:cNvPr id="61" name=""/>
          <p:cNvSpPr txBox="1"/>
          <p:nvPr/>
        </p:nvSpPr>
        <p:spPr>
          <a:xfrm>
            <a:off x="5760000" y="1800000"/>
            <a:ext cx="4140000" cy="34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50000"/>
              </a:lnSpc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2200" b="1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Correct polarity connection allows connection to the output node</a:t>
            </a:r>
            <a:endParaRPr lang="en-GB" sz="2200" b="1" u="none" strike="noStrike">
              <a:solidFill>
                <a:srgbClr val="2c3e50"/>
              </a:solidFill>
              <a:effectLst/>
              <a:uFillTx/>
              <a:latin typeface="Times New Roman"/>
            </a:endParaRPr>
          </a:p>
          <a:p>
            <a:pPr marL="432000" indent="-324000">
              <a:lnSpc>
                <a:spcPct val="150000"/>
              </a:lnSpc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2200" b="1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Wrong polarity connection does not allow connection to the output node</a:t>
            </a:r>
            <a:endParaRPr lang="en-GB" sz="2200" b="1" u="none" strike="noStrike">
              <a:solidFill>
                <a:srgbClr val="2c3e50"/>
              </a:solidFill>
              <a:effectLst/>
              <a:uFillTx/>
              <a:latin typeface="Times New Roman"/>
            </a:endParaRPr>
          </a:p>
        </p:txBody>
      </p:sp>
      <p:pic>
        <p:nvPicPr>
          <p:cNvPr id="62" name=""/>
          <p:cNvPicPr/>
          <p:nvPr/>
        </p:nvPicPr>
        <p:blipFill>
          <a:blip r:embed="rId2"/>
          <a:srcRect l="0" t="0" r="3231" b="0"/>
          <a:stretch/>
        </p:blipFill>
        <p:spPr>
          <a:xfrm>
            <a:off x="360360" y="3600000"/>
            <a:ext cx="5399640" cy="1692000"/>
          </a:xfrm>
          <a:prstGeom prst="rect">
            <a:avLst/>
          </a:prstGeom>
          <a:noFill/>
          <a:ln w="1080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2902EEF-4997-4142-B979-70324F762298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60000" cy="71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noAutofit/>
          </a:bodyPr>
          <a:p>
            <a:pPr indent="0" algn="ctr">
              <a:buNone/>
            </a:pPr>
            <a:r>
              <a:rPr lang="en-GB" sz="4000" b="1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CIRCUIT DESIGN AND SIMULATION</a:t>
            </a:r>
            <a:endParaRPr lang="en-GB" sz="4000" b="1" u="none" strike="noStrike">
              <a:solidFill>
                <a:srgbClr val="ffffff"/>
              </a:solidFill>
              <a:effectLst/>
              <a:uFillTx/>
              <a:latin typeface="Noto Sans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360000" y="1305000"/>
            <a:ext cx="9360000" cy="49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24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Motor driver circuit</a:t>
            </a:r>
            <a:endParaRPr lang="en-GB" sz="2400" b="1" u="none" strike="noStrike">
              <a:solidFill>
                <a:srgbClr val="2c3e50"/>
              </a:solidFill>
              <a:effectLst/>
              <a:uFillTx/>
              <a:latin typeface="Noto Sans"/>
            </a:endParaRPr>
          </a:p>
        </p:txBody>
      </p:sp>
      <p:pic>
        <p:nvPicPr>
          <p:cNvPr id="65" name=""/>
          <p:cNvPicPr/>
          <p:nvPr/>
        </p:nvPicPr>
        <p:blipFill>
          <a:blip r:embed="rId1"/>
          <a:stretch/>
        </p:blipFill>
        <p:spPr>
          <a:xfrm>
            <a:off x="469800" y="1920240"/>
            <a:ext cx="5470200" cy="2939760"/>
          </a:xfrm>
          <a:prstGeom prst="rect">
            <a:avLst/>
          </a:prstGeom>
          <a:noFill/>
          <a:ln w="10800">
            <a:noFill/>
          </a:ln>
        </p:spPr>
      </p:pic>
      <p:sp>
        <p:nvSpPr>
          <p:cNvPr id="66" name=""/>
          <p:cNvSpPr txBox="1"/>
          <p:nvPr/>
        </p:nvSpPr>
        <p:spPr>
          <a:xfrm>
            <a:off x="6120000" y="1980000"/>
            <a:ext cx="3780000" cy="19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50000"/>
              </a:lnSpc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2200" b="1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ULN2003A driver circuit was designed to drive stepper motors and simulation went as expected</a:t>
            </a:r>
            <a:endParaRPr lang="en-GB" sz="2200" b="1" u="none" strike="noStrike">
              <a:solidFill>
                <a:srgbClr val="2c3e5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DBA5274-88D8-46EF-A276-EDA6B576CBF3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60000" cy="71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noAutofit/>
          </a:bodyPr>
          <a:p>
            <a:pPr indent="0" algn="ctr">
              <a:buNone/>
            </a:pPr>
            <a:r>
              <a:rPr lang="en-GB" sz="5400" b="1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CONCLUSION</a:t>
            </a:r>
            <a:endParaRPr lang="en-GB" sz="5400" b="1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360000" y="1485000"/>
            <a:ext cx="9360000" cy="37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50000"/>
              </a:lnSpc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2400" b="1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Work done to date; system architecture design, computer vision pipeline, database creation, schematic design and electronic components’ simulation</a:t>
            </a:r>
            <a:endParaRPr lang="en-GB" sz="2400" b="1" u="none" strike="noStrike">
              <a:solidFill>
                <a:srgbClr val="2c3e50"/>
              </a:solidFill>
              <a:effectLst/>
              <a:uFillTx/>
              <a:latin typeface="Times New Roman"/>
            </a:endParaRPr>
          </a:p>
          <a:p>
            <a:pPr marL="432000" indent="-324000">
              <a:lnSpc>
                <a:spcPct val="150000"/>
              </a:lnSpc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2400" b="1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Next progress; authentication system, hardware components procurement, circuit integration and enclosure design and implementation </a:t>
            </a:r>
            <a:endParaRPr lang="en-GB" sz="2400" b="1" u="none" strike="noStrike">
              <a:solidFill>
                <a:srgbClr val="2c3e5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5DF06C3-00CB-45D9-8D26-69B960D17B82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</TotalTime>
  <Application>LibreOffice/25.8.5.2$Linux_X86_64 LibreOffice_project/252c20f6956e3db0b52e6e2f9dda67263513c8fc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2026-03-05T12:54:50Z</dcterms:created>
  <dc:creator/>
  <dc:description>This work is licensed under a Creative Commons 0 License.
It makes use of the works of Jun NOGATA.</dc:description>
  <dc:language>en-GB</dc:language>
  <cp:lastModifiedBy/>
  <dcterms:modified xsi:type="dcterms:W3CDTF">2026-03-05T15:11:42Z</dcterms:modified>
  <cp:revision>7</cp:revision>
  <dc:subject/>
  <dc:title>Midnightblue</dc:title>
</cp:coreProperties>
</file>