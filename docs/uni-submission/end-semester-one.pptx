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5400000"/>
            <a:ext cx="10079640" cy="26964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lang="en-GB" sz="1400" b="1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" name=""/>
          <p:cNvSpPr/>
          <p:nvPr/>
        </p:nvSpPr>
        <p:spPr>
          <a:xfrm>
            <a:off x="0" y="0"/>
            <a:ext cx="10079640" cy="121464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lang="en-GB" sz="1400" b="1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4" name=""/>
          <p:cNvSpPr/>
          <p:nvPr/>
        </p:nvSpPr>
        <p:spPr>
          <a:xfrm>
            <a:off x="9315000" y="5175000"/>
            <a:ext cx="449640" cy="449640"/>
          </a:xfrm>
          <a:prstGeom prst="ellipse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lang="en-GB" sz="1400" b="1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</a:t>
            </a:r>
            <a:r>
              <a:rPr lang="en-GB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title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59640" cy="37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2400" b="1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Second Outline Level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en-GB" sz="15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Fourth Outline Level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15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Fifth Outline Level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15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Sixth Outline Level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1500" b="0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Seventh Outline Level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7964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GB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3964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GB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9180000" y="5262480"/>
            <a:ext cx="719640" cy="2746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GB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75168E3-74F1-4CF9-BC74-D25E713E963A}" type="slidenum">
              <a:rPr lang="en-GB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10079640" cy="566964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lang="en-GB" sz="1400" b="1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10079640" cy="3779640"/>
          </a:xfrm>
          <a:prstGeom prst="rect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lang="en-GB" sz="1400" b="1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32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59640" cy="14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0">
              <a:lnSpc>
                <a:spcPct val="100000"/>
              </a:lnSpc>
              <a:spcAft>
                <a:spcPts val="655"/>
              </a:spcAft>
              <a:buNone/>
              <a:tabLst>
                <a:tab algn="l" pos="0"/>
              </a:tabLst>
            </a:pPr>
            <a:r>
              <a:rPr lang="en-GB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lang="en-GB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indent="0">
              <a:lnSpc>
                <a:spcPct val="100000"/>
              </a:lnSpc>
              <a:spcAft>
                <a:spcPts val="635"/>
              </a:spcAft>
              <a:buNone/>
              <a:tabLst>
                <a:tab algn="l" pos="0"/>
              </a:tabLst>
            </a:pPr>
            <a:r>
              <a:rPr lang="en-GB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indent="0">
              <a:lnSpc>
                <a:spcPct val="100000"/>
              </a:lnSpc>
              <a:spcAft>
                <a:spcPts val="425"/>
              </a:spcAft>
              <a:buNone/>
              <a:tabLst>
                <a:tab algn="l" pos="0"/>
              </a:tabLst>
            </a:pPr>
            <a:r>
              <a:rPr lang="en-GB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lang="en-GB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lang="en-GB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lang="en-GB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360000" y="5400000"/>
            <a:ext cx="287964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GB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3420000" y="5400000"/>
            <a:ext cx="323964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GB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9180000" y="5262480"/>
            <a:ext cx="719640" cy="2746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GB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8BBB361-2B3A-43F6-AE89-F061E6590BFF}" type="slidenum">
              <a:rPr lang="en-GB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0" y="0"/>
            <a:ext cx="10079640" cy="566964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lang="en-GB" sz="1400" b="1" u="none" strike="noStrik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2520000" y="1350000"/>
            <a:ext cx="5039640" cy="1889640"/>
          </a:xfrm>
          <a:prstGeom prst="wedgeRectCallout">
            <a:avLst>
              <a:gd name="adj1" fmla="val -34032"/>
              <a:gd name="adj2" fmla="val 132916"/>
            </a:avLst>
          </a:prstGeom>
          <a:solidFill>
            <a:srgbClr val="ffffff"/>
          </a:solidFill>
          <a:ln w="720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20600" rIns="120600" tIns="75600" bIns="75600" anchor="ctr">
            <a:noAutofit/>
          </a:bodyPr>
          <a:p>
            <a:pPr>
              <a:lnSpc>
                <a:spcPct val="100000"/>
              </a:lnSpc>
            </a:pPr>
            <a:endParaRPr lang="en-GB" sz="1400" b="1" u="none" strike="noStrike">
              <a:solidFill>
                <a:srgbClr val="2c3e5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7964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2700" b="1" u="none" strike="noStrike">
                <a:solidFill>
                  <a:srgbClr val="2c3e5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GB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420000" y="3240000"/>
            <a:ext cx="629964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0">
              <a:lnSpc>
                <a:spcPct val="100000"/>
              </a:lnSpc>
              <a:spcAft>
                <a:spcPts val="655"/>
              </a:spcAft>
              <a:buNone/>
              <a:tabLst>
                <a:tab algn="l" pos="0"/>
              </a:tabLst>
            </a:pPr>
            <a:r>
              <a:rPr lang="en-GB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lang="en-GB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indent="0">
              <a:lnSpc>
                <a:spcPct val="100000"/>
              </a:lnSpc>
              <a:spcAft>
                <a:spcPts val="635"/>
              </a:spcAft>
              <a:buNone/>
              <a:tabLst>
                <a:tab algn="l" pos="0"/>
              </a:tabLst>
            </a:pPr>
            <a:r>
              <a:rPr lang="en-GB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indent="0">
              <a:lnSpc>
                <a:spcPct val="100000"/>
              </a:lnSpc>
              <a:spcAft>
                <a:spcPts val="425"/>
              </a:spcAft>
              <a:buNone/>
              <a:tabLst>
                <a:tab algn="l" pos="0"/>
              </a:tabLst>
            </a:pPr>
            <a:r>
              <a:rPr lang="en-GB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lang="en-GB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lang="en-GB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lang="en-GB" sz="15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7"/>
          </p:nvPr>
        </p:nvSpPr>
        <p:spPr>
          <a:xfrm>
            <a:off x="360000" y="5400000"/>
            <a:ext cx="287964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-GB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8"/>
          </p:nvPr>
        </p:nvSpPr>
        <p:spPr>
          <a:xfrm>
            <a:off x="3420000" y="5400000"/>
            <a:ext cx="323964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GB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9"/>
          </p:nvPr>
        </p:nvSpPr>
        <p:spPr>
          <a:xfrm>
            <a:off x="9180000" y="5262480"/>
            <a:ext cx="719640" cy="2746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GB" sz="18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34437E0-B720-4DAF-B768-E2E640FA0523}" type="slidenum">
              <a:rPr lang="en-GB" sz="18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lang="en-GB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38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FINAL YEAR PROJECT PRESENTATION</a:t>
            </a:r>
            <a:endParaRPr lang="en-GB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640" cy="37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50000"/>
              </a:lnSpc>
              <a:spcAft>
                <a:spcPts val="1057"/>
              </a:spcAft>
              <a:buNone/>
              <a:tabLst>
                <a:tab algn="l" pos="0"/>
              </a:tabLst>
            </a:pPr>
            <a:r>
              <a:rPr lang="en-GB" sz="2800" b="1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PROGRESS STAGE: </a:t>
            </a:r>
            <a:r>
              <a:rPr lang="en-GB" sz="28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End of Semester 1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50000"/>
              </a:lnSpc>
              <a:spcAft>
                <a:spcPts val="1057"/>
              </a:spcAft>
              <a:buNone/>
              <a:tabLst>
                <a:tab algn="l" pos="0"/>
              </a:tabLst>
            </a:pPr>
            <a:r>
              <a:rPr lang="en-GB" sz="2800" b="1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CANDIDATE: </a:t>
            </a:r>
            <a:r>
              <a:rPr lang="en-GB" sz="28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Musyani, Samuel Dan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50000"/>
              </a:lnSpc>
              <a:spcAft>
                <a:spcPts val="1057"/>
              </a:spcAft>
              <a:buNone/>
              <a:tabLst>
                <a:tab algn="l" pos="0"/>
              </a:tabLst>
            </a:pPr>
            <a:r>
              <a:rPr lang="en-GB" sz="2800" b="1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SUPERVISOR: </a:t>
            </a:r>
            <a:r>
              <a:rPr lang="en-GB" sz="28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Dr. Hashim Iddi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50000"/>
              </a:lnSpc>
              <a:spcAft>
                <a:spcPts val="1057"/>
              </a:spcAft>
              <a:buNone/>
              <a:tabLst>
                <a:tab algn="l" pos="0"/>
              </a:tabLst>
            </a:pPr>
            <a:r>
              <a:rPr lang="en-GB" sz="2800" b="1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PROJECT TITLE: </a:t>
            </a:r>
            <a:r>
              <a:rPr lang="en-GB" sz="28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Design and Implementation of an Automated ID Card Issuance System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F8DDF2-FA8B-4AAB-8B76-ADEF5BDDFB88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5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INTRODUCTION</a:t>
            </a:r>
            <a:endParaRPr lang="en-GB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640" cy="37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 algn="just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The project aims to ease ID card issuance process for registered students by developing a prototype of an automated system.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just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Registered students will be able to return their expired cards, and retrieve their valid ID cards  for that particular academic year.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F18C57-5D88-4877-B86F-24AE11E4A531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5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PROBLEM STATEMENT</a:t>
            </a:r>
            <a:endParaRPr lang="en-GB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360000" y="4140000"/>
            <a:ext cx="9359640" cy="112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With high student volumes, narrow administrative working window leads to long queues and delayed distribution.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"/>
          <p:cNvPicPr/>
          <p:nvPr/>
        </p:nvPicPr>
        <p:blipFill>
          <a:blip r:embed="rId1"/>
          <a:stretch/>
        </p:blipFill>
        <p:spPr>
          <a:xfrm>
            <a:off x="900000" y="1260000"/>
            <a:ext cx="7919640" cy="305604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263FAD-63F9-4214-93E4-2FBD024C3153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5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PROPOSED SOLUTIONS</a:t>
            </a:r>
            <a:endParaRPr lang="en-GB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0" y="1260000"/>
            <a:ext cx="9359640" cy="5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indent="0" algn="ctr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r>
              <a:rPr lang="en-GB" sz="28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An automated card issuance system, with: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540000" y="1800000"/>
            <a:ext cx="3779640" cy="1439640"/>
          </a:xfrm>
          <a:prstGeom prst="flowChartAlternateProcess">
            <a:avLst/>
          </a:prstGeom>
          <a:solidFill>
            <a:srgbClr val="ffffff"/>
          </a:solidFill>
          <a:ln w="10800">
            <a:solidFill>
              <a:srgbClr val="808080"/>
            </a:solidFill>
            <a:round/>
          </a:ln>
          <a:effectLst>
            <a:outerShdw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50000"/>
              </a:lnSpc>
            </a:pPr>
            <a:r>
              <a:rPr lang="en-GB" sz="2000" b="1" u="none" strike="noStrike">
                <a:solidFill>
                  <a:srgbClr val="2c3e50"/>
                </a:solidFill>
                <a:effectLst/>
                <a:uFillTx/>
                <a:latin typeface="Times New Roman"/>
                <a:ea typeface="DejaVu Sans"/>
              </a:rPr>
              <a:t>Automated reliable dispensing: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GB" sz="2000" b="0" u="none" strike="noStrike">
                <a:solidFill>
                  <a:srgbClr val="2c3e50"/>
                </a:solidFill>
                <a:effectLst/>
                <a:uFillTx/>
                <a:latin typeface="Times New Roman"/>
                <a:ea typeface="DejaVu Sans"/>
              </a:rPr>
              <a:t>Sorts and distributes cards 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GB" sz="2000" b="0" u="none" strike="noStrike">
                <a:solidFill>
                  <a:srgbClr val="2c3e50"/>
                </a:solidFill>
                <a:effectLst/>
                <a:uFillTx/>
                <a:latin typeface="Times New Roman"/>
                <a:ea typeface="DejaVu Sans"/>
              </a:rPr>
              <a:t>24/7 with real-time control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540000" y="3420000"/>
            <a:ext cx="3779640" cy="1619640"/>
          </a:xfrm>
          <a:prstGeom prst="flowChartAlternateProcess">
            <a:avLst/>
          </a:prstGeom>
          <a:solidFill>
            <a:srgbClr val="ffffff"/>
          </a:solidFill>
          <a:ln w="10800">
            <a:solidFill>
              <a:srgbClr val="808080"/>
            </a:solidFill>
            <a:round/>
          </a:ln>
          <a:effectLst>
            <a:outerShdw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 anchorCtr="1">
            <a:noAutofit/>
          </a:bodyPr>
          <a:p>
            <a:pPr algn="ctr">
              <a:lnSpc>
                <a:spcPct val="150000"/>
              </a:lnSpc>
            </a:pPr>
            <a:r>
              <a:rPr lang="en-GB" sz="2000" b="1" u="none" strike="noStrike">
                <a:solidFill>
                  <a:srgbClr val="2c3e50"/>
                </a:solidFill>
                <a:effectLst/>
                <a:uFillTx/>
                <a:latin typeface="Times New Roman"/>
                <a:ea typeface="DejaVu Sans"/>
              </a:rPr>
              <a:t>Computer Vision: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GB" sz="2000" b="0" u="none" strike="noStrike">
                <a:solidFill>
                  <a:srgbClr val="2c3e50"/>
                </a:solidFill>
                <a:effectLst/>
                <a:uFillTx/>
                <a:latin typeface="Times New Roman"/>
                <a:ea typeface="DejaVu Sans"/>
              </a:rPr>
              <a:t>Automated card details verification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GB" sz="2000" b="0" u="none" strike="noStrike">
                <a:solidFill>
                  <a:srgbClr val="2c3e50"/>
                </a:solidFill>
                <a:effectLst/>
                <a:uFillTx/>
                <a:latin typeface="Times New Roman"/>
                <a:ea typeface="DejaVu Sans"/>
              </a:rPr>
              <a:t>for sorting and distribution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5040000" y="1800000"/>
            <a:ext cx="3779640" cy="1439640"/>
          </a:xfrm>
          <a:prstGeom prst="flowChartAlternateProcess">
            <a:avLst/>
          </a:prstGeom>
          <a:solidFill>
            <a:srgbClr val="ffffff"/>
          </a:solidFill>
          <a:ln w="10800">
            <a:solidFill>
              <a:srgbClr val="808080"/>
            </a:solidFill>
            <a:round/>
          </a:ln>
          <a:effectLst>
            <a:outerShdw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50000"/>
              </a:lnSpc>
            </a:pPr>
            <a:r>
              <a:rPr lang="en-GB" sz="2000" b="1" u="none" strike="noStrike">
                <a:solidFill>
                  <a:srgbClr val="2c3e50"/>
                </a:solidFill>
                <a:effectLst/>
                <a:uFillTx/>
                <a:latin typeface="Times New Roman"/>
                <a:ea typeface="DejaVu Sans"/>
              </a:rPr>
              <a:t>Secure Authentication: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GB" sz="2000" b="0" u="none" strike="noStrike">
                <a:solidFill>
                  <a:srgbClr val="2c3e50"/>
                </a:solidFill>
                <a:effectLst/>
                <a:uFillTx/>
                <a:latin typeface="Times New Roman"/>
                <a:ea typeface="DejaVu Sans"/>
              </a:rPr>
              <a:t>OTP and PIN for student 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GB" sz="2000" b="0" u="none" strike="noStrike">
                <a:solidFill>
                  <a:srgbClr val="2c3e50"/>
                </a:solidFill>
                <a:effectLst/>
                <a:uFillTx/>
                <a:latin typeface="Times New Roman"/>
                <a:ea typeface="DejaVu Sans"/>
              </a:rPr>
              <a:t>verification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5040000" y="3420000"/>
            <a:ext cx="3779640" cy="1619640"/>
          </a:xfrm>
          <a:prstGeom prst="flowChartAlternateProcess">
            <a:avLst/>
          </a:prstGeom>
          <a:solidFill>
            <a:srgbClr val="ffffff"/>
          </a:solidFill>
          <a:ln w="10800">
            <a:solidFill>
              <a:srgbClr val="808080"/>
            </a:solidFill>
            <a:round/>
          </a:ln>
          <a:effectLst>
            <a:outerShdw dir="2700000" dist="101823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50000"/>
              </a:lnSpc>
            </a:pPr>
            <a:r>
              <a:rPr lang="en-GB" sz="2100" b="1" u="none" strike="noStrike">
                <a:solidFill>
                  <a:srgbClr val="2c3e50"/>
                </a:solidFill>
                <a:effectLst/>
                <a:uFillTx/>
                <a:latin typeface="Times New Roman"/>
                <a:ea typeface="DejaVu Sans"/>
              </a:rPr>
              <a:t>Audit logging: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GB" sz="2100" b="0" u="none" strike="noStrike">
                <a:solidFill>
                  <a:srgbClr val="2c3e50"/>
                </a:solidFill>
                <a:effectLst/>
                <a:uFillTx/>
                <a:latin typeface="Times New Roman"/>
                <a:ea typeface="DejaVu Sans"/>
              </a:rPr>
              <a:t>Record all activities happening 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GB" sz="2100" b="0" u="none" strike="noStrike">
                <a:solidFill>
                  <a:srgbClr val="2c3e50"/>
                </a:solidFill>
                <a:effectLst/>
                <a:uFillTx/>
                <a:latin typeface="Times New Roman"/>
                <a:ea typeface="DejaVu Sans"/>
              </a:rPr>
              <a:t>for debugging and tracking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7D7274-93A2-435F-8D4E-9A34A197AC36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5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OBJECTIVES</a:t>
            </a:r>
            <a:endParaRPr lang="en-GB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360000" y="1260000"/>
            <a:ext cx="9359640" cy="37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indent="0">
              <a:lnSpc>
                <a:spcPct val="150000"/>
              </a:lnSpc>
              <a:spcAft>
                <a:spcPts val="1057"/>
              </a:spcAft>
              <a:buNone/>
              <a:tabLst>
                <a:tab algn="l" pos="0"/>
              </a:tabLst>
            </a:pPr>
            <a:r>
              <a:rPr lang="en-GB" sz="24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Main Objective: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GB" sz="24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To design and implement an Automated ID card Issuance System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spcAft>
                <a:spcPts val="1057"/>
              </a:spcAft>
              <a:buNone/>
              <a:tabLst>
                <a:tab algn="l" pos="0"/>
              </a:tabLst>
            </a:pPr>
            <a:r>
              <a:rPr lang="en-GB" sz="24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Specific Objectives: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GB" sz="24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To implement robust authentication 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GB" sz="24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To implement an actuator control system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GB" sz="24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To enforce security policy and audit logging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8B3677-B242-4F52-8140-032A082791CA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5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SYSTEM ARCHITECTURE</a:t>
            </a:r>
            <a:endParaRPr lang="en-GB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360000" y="4140000"/>
            <a:ext cx="9359640" cy="112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High – level controller manages authentication, UI, database and computer vision while low – level controller manages real – time controls and sensor integration.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"/>
          <p:cNvPicPr/>
          <p:nvPr/>
        </p:nvPicPr>
        <p:blipFill>
          <a:blip r:embed="rId1"/>
          <a:stretch/>
        </p:blipFill>
        <p:spPr>
          <a:xfrm>
            <a:off x="180000" y="1257480"/>
            <a:ext cx="9539640" cy="288216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9A5480-EEC9-43D8-85CC-27FF4C8A17F2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5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FUNCTIONAL WORKFLOW</a:t>
            </a:r>
            <a:endParaRPr lang="en-GB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"/>
          <p:cNvPicPr/>
          <p:nvPr/>
        </p:nvPicPr>
        <p:blipFill>
          <a:blip r:embed="rId1"/>
          <a:stretch/>
        </p:blipFill>
        <p:spPr>
          <a:xfrm>
            <a:off x="1082880" y="1080000"/>
            <a:ext cx="8276760" cy="434988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705930-1EF2-4638-84E6-D7C5A0562D7B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5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FUNCTIONAL WORKFLOW</a:t>
            </a:r>
            <a:endParaRPr lang="en-GB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"/>
          <p:cNvPicPr/>
          <p:nvPr/>
        </p:nvPicPr>
        <p:blipFill>
          <a:blip r:embed="rId1"/>
          <a:stretch/>
        </p:blipFill>
        <p:spPr>
          <a:xfrm>
            <a:off x="180000" y="1260000"/>
            <a:ext cx="3760560" cy="4139640"/>
          </a:xfrm>
          <a:prstGeom prst="rect">
            <a:avLst/>
          </a:prstGeom>
          <a:noFill/>
          <a:ln w="10800">
            <a:noFill/>
          </a:ln>
        </p:spPr>
      </p:pic>
      <p:pic>
        <p:nvPicPr>
          <p:cNvPr id="46" name=""/>
          <p:cNvPicPr/>
          <p:nvPr/>
        </p:nvPicPr>
        <p:blipFill>
          <a:blip r:embed="rId2"/>
          <a:stretch/>
        </p:blipFill>
        <p:spPr>
          <a:xfrm>
            <a:off x="4320000" y="1260000"/>
            <a:ext cx="5652000" cy="422496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571FA4-9866-4811-A676-CD2E8E893AEE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8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COMPUTER VISION PIPELINE</a:t>
            </a:r>
            <a:endParaRPr lang="en-GB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"/>
          <p:cNvPicPr/>
          <p:nvPr/>
        </p:nvPicPr>
        <p:blipFill>
          <a:blip r:embed="rId1"/>
          <a:stretch/>
        </p:blipFill>
        <p:spPr>
          <a:xfrm>
            <a:off x="0" y="1186920"/>
            <a:ext cx="10079280" cy="1332720"/>
          </a:xfrm>
          <a:prstGeom prst="rect">
            <a:avLst/>
          </a:prstGeom>
          <a:noFill/>
          <a:ln w="10800">
            <a:noFill/>
          </a:ln>
        </p:spPr>
      </p:pic>
      <p:pic>
        <p:nvPicPr>
          <p:cNvPr id="49" name=""/>
          <p:cNvPicPr/>
          <p:nvPr/>
        </p:nvPicPr>
        <p:blipFill>
          <a:blip r:embed="rId2"/>
          <a:srcRect l="5719" t="0" r="7707" b="0"/>
          <a:stretch/>
        </p:blipFill>
        <p:spPr>
          <a:xfrm>
            <a:off x="156240" y="2776680"/>
            <a:ext cx="2723400" cy="1902960"/>
          </a:xfrm>
          <a:prstGeom prst="rect">
            <a:avLst/>
          </a:prstGeom>
          <a:noFill/>
          <a:ln w="10800">
            <a:noFill/>
          </a:ln>
        </p:spPr>
      </p:pic>
      <p:pic>
        <p:nvPicPr>
          <p:cNvPr id="50" name=""/>
          <p:cNvPicPr/>
          <p:nvPr/>
        </p:nvPicPr>
        <p:blipFill>
          <a:blip r:embed="rId3"/>
          <a:stretch/>
        </p:blipFill>
        <p:spPr>
          <a:xfrm>
            <a:off x="3240000" y="2774520"/>
            <a:ext cx="3020760" cy="1905120"/>
          </a:xfrm>
          <a:prstGeom prst="rect">
            <a:avLst/>
          </a:prstGeom>
          <a:noFill/>
          <a:ln w="10800">
            <a:noFill/>
          </a:ln>
        </p:spPr>
      </p:pic>
      <p:pic>
        <p:nvPicPr>
          <p:cNvPr id="51" name=""/>
          <p:cNvPicPr/>
          <p:nvPr/>
        </p:nvPicPr>
        <p:blipFill>
          <a:blip r:embed="rId4"/>
          <a:stretch/>
        </p:blipFill>
        <p:spPr>
          <a:xfrm>
            <a:off x="6621120" y="3240000"/>
            <a:ext cx="3278520" cy="110340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52" name=""/>
          <p:cNvSpPr/>
          <p:nvPr/>
        </p:nvSpPr>
        <p:spPr>
          <a:xfrm>
            <a:off x="2880000" y="3600000"/>
            <a:ext cx="359640" cy="17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33333"/>
          </a:solidFill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GB" sz="1800" b="0" u="none" strike="noStrike">
              <a:solidFill>
                <a:srgbClr val="2c3e5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53" name=""/>
          <p:cNvSpPr/>
          <p:nvPr/>
        </p:nvSpPr>
        <p:spPr>
          <a:xfrm>
            <a:off x="6261120" y="3600000"/>
            <a:ext cx="359640" cy="17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33333"/>
          </a:solidFill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GB" sz="1800" b="0" u="none" strike="noStrike">
              <a:solidFill>
                <a:srgbClr val="2c3e5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B4BD5D-9324-4C89-AE5C-97F7BB2D3A07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0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CIRCUIT DESIGN AND SIMULATION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640" cy="49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Power separation rail design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" name=""/>
          <p:cNvPicPr/>
          <p:nvPr/>
        </p:nvPicPr>
        <p:blipFill>
          <a:blip r:embed="rId1"/>
          <a:stretch/>
        </p:blipFill>
        <p:spPr>
          <a:xfrm>
            <a:off x="339480" y="1980000"/>
            <a:ext cx="5600160" cy="300492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57" name=""/>
          <p:cNvSpPr/>
          <p:nvPr/>
        </p:nvSpPr>
        <p:spPr>
          <a:xfrm>
            <a:off x="6120000" y="1980000"/>
            <a:ext cx="3779640" cy="21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Separation is done to prevent inrush current (motors) interfering from logic components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37386F-DA06-44A5-A2CB-1ED2E569FDB0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0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CIRCUIT DESIGN AND SIMULATION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60000" y="1305000"/>
            <a:ext cx="9359640" cy="49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Reverse Polarity Protection Circuit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"/>
          <p:cNvPicPr/>
          <p:nvPr/>
        </p:nvPicPr>
        <p:blipFill>
          <a:blip r:embed="rId1"/>
          <a:srcRect l="0" t="418" r="3231" b="4173"/>
          <a:stretch/>
        </p:blipFill>
        <p:spPr>
          <a:xfrm>
            <a:off x="360360" y="1800360"/>
            <a:ext cx="5399280" cy="161928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61" name=""/>
          <p:cNvSpPr/>
          <p:nvPr/>
        </p:nvSpPr>
        <p:spPr>
          <a:xfrm>
            <a:off x="5760000" y="1800000"/>
            <a:ext cx="4139640" cy="34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Correct polarity connection allows connection to the output node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Wrong polarity connection does not allow connection to the output node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"/>
          <p:cNvPicPr/>
          <p:nvPr/>
        </p:nvPicPr>
        <p:blipFill>
          <a:blip r:embed="rId2"/>
          <a:srcRect l="0" t="0" r="3231" b="0"/>
          <a:stretch/>
        </p:blipFill>
        <p:spPr>
          <a:xfrm>
            <a:off x="360360" y="3600000"/>
            <a:ext cx="5399280" cy="169164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F54884-DB2B-4E63-84B0-57F34D476EEB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40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CIRCUIT DESIGN AND SIMULATION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360000" y="1305000"/>
            <a:ext cx="9359640" cy="49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Motor driver circuit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5" name=""/>
          <p:cNvPicPr/>
          <p:nvPr/>
        </p:nvPicPr>
        <p:blipFill>
          <a:blip r:embed="rId1"/>
          <a:stretch/>
        </p:blipFill>
        <p:spPr>
          <a:xfrm>
            <a:off x="469800" y="1920240"/>
            <a:ext cx="5469840" cy="293940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66" name=""/>
          <p:cNvSpPr/>
          <p:nvPr/>
        </p:nvSpPr>
        <p:spPr>
          <a:xfrm>
            <a:off x="6120000" y="1980000"/>
            <a:ext cx="3779640" cy="19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22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ULN2003A driver circuit was designed to drive stepper motors and simulation went as expected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51F20F-6E62-4FB5-A021-483C25654E7B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GB" sz="54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CONCLUSION</a:t>
            </a:r>
            <a:endParaRPr lang="en-GB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640" cy="37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Work done to date; system architecture design, computer vision pipeline, database creation, schematic design and electronic components’ simulation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5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Next progress; authentication system, hardware components procurement, circuit integration and enclosure design and implementation 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2A40F-3874-4218-A9D8-21B68433E916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LibreOffice/25.8.5.2$Linux_X86_64 LibreOffice_project/252c20f6956e3db0b52e6e2f9dda67263513c8fc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2026-03-05T12:54:50Z</dcterms:created>
  <dc:creator/>
  <dc:description>This work is licensed under a Creative Commons 0 License.
It makes use of the works of Jun NOGATA.</dc:description>
  <dc:language>en-GB</dc:language>
  <cp:lastModifiedBy/>
  <dcterms:modified xsi:type="dcterms:W3CDTF">2026-03-05T16:32:09Z</dcterms:modified>
  <cp:revision>8</cp:revision>
  <dc:subject/>
  <dc:title>Midnightblue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